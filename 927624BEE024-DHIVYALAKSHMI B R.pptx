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1"/>
  </p:notesMasterIdLst>
  <p:sldIdLst>
    <p:sldId id="275" r:id="rId2"/>
    <p:sldId id="257" r:id="rId3"/>
    <p:sldId id="514" r:id="rId4"/>
    <p:sldId id="259" r:id="rId5"/>
    <p:sldId id="260" r:id="rId6"/>
    <p:sldId id="261" r:id="rId7"/>
    <p:sldId id="262" r:id="rId8"/>
    <p:sldId id="263" r:id="rId9"/>
    <p:sldId id="264" r:id="rId10"/>
    <p:sldId id="265" r:id="rId11"/>
    <p:sldId id="266" r:id="rId12"/>
    <p:sldId id="267" r:id="rId13"/>
    <p:sldId id="268" r:id="rId14"/>
    <p:sldId id="515" r:id="rId15"/>
    <p:sldId id="516" r:id="rId16"/>
    <p:sldId id="269" r:id="rId17"/>
    <p:sldId id="270" r:id="rId18"/>
    <p:sldId id="518" r:id="rId19"/>
    <p:sldId id="271" r:id="rId20"/>
  </p:sldIdLst>
  <p:sldSz cx="9144000" cy="5143500" type="screen16x9"/>
  <p:notesSz cx="6797675" cy="9926638"/>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E7BE11-E897-428C-82D5-210AE9FC8D68}" v="28" dt="2025-12-12T16:47:21.18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2092" autoAdjust="0"/>
  </p:normalViewPr>
  <p:slideViewPr>
    <p:cSldViewPr snapToGrid="0" showGuides="1">
      <p:cViewPr varScale="1">
        <p:scale>
          <a:sx n="89" d="100"/>
          <a:sy n="89" d="100"/>
        </p:scale>
        <p:origin x="1310"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IVYALAKSHMI B  R" userId="5e8896278cdfd885" providerId="LiveId" clId="{CC9DF46C-ACA9-4B4E-A0CB-FBBE8F064AB4}"/>
    <pc:docChg chg="custSel modSld sldOrd">
      <pc:chgData name="DHIVYALAKSHMI B  R" userId="5e8896278cdfd885" providerId="LiveId" clId="{CC9DF46C-ACA9-4B4E-A0CB-FBBE8F064AB4}" dt="2025-12-13T08:29:07.712" v="12" actId="20577"/>
      <pc:docMkLst>
        <pc:docMk/>
      </pc:docMkLst>
      <pc:sldChg chg="modSp mod">
        <pc:chgData name="DHIVYALAKSHMI B  R" userId="5e8896278cdfd885" providerId="LiveId" clId="{CC9DF46C-ACA9-4B4E-A0CB-FBBE8F064AB4}" dt="2025-12-13T07:56:51.323" v="0" actId="12"/>
        <pc:sldMkLst>
          <pc:docMk/>
          <pc:sldMk cId="0" sldId="263"/>
        </pc:sldMkLst>
        <pc:spChg chg="mod">
          <ac:chgData name="DHIVYALAKSHMI B  R" userId="5e8896278cdfd885" providerId="LiveId" clId="{CC9DF46C-ACA9-4B4E-A0CB-FBBE8F064AB4}" dt="2025-12-13T07:56:51.323" v="0" actId="12"/>
          <ac:spMkLst>
            <pc:docMk/>
            <pc:sldMk cId="0" sldId="263"/>
            <ac:spMk id="3" creationId="{00000000-0000-0000-0000-000000000000}"/>
          </ac:spMkLst>
        </pc:spChg>
      </pc:sldChg>
      <pc:sldChg chg="modSp mod">
        <pc:chgData name="DHIVYALAKSHMI B  R" userId="5e8896278cdfd885" providerId="LiveId" clId="{CC9DF46C-ACA9-4B4E-A0CB-FBBE8F064AB4}" dt="2025-12-13T07:56:59.064" v="2" actId="12"/>
        <pc:sldMkLst>
          <pc:docMk/>
          <pc:sldMk cId="0" sldId="264"/>
        </pc:sldMkLst>
        <pc:spChg chg="mod">
          <ac:chgData name="DHIVYALAKSHMI B  R" userId="5e8896278cdfd885" providerId="LiveId" clId="{CC9DF46C-ACA9-4B4E-A0CB-FBBE8F064AB4}" dt="2025-12-13T07:56:59.064" v="2" actId="12"/>
          <ac:spMkLst>
            <pc:docMk/>
            <pc:sldMk cId="0" sldId="264"/>
            <ac:spMk id="3" creationId="{00000000-0000-0000-0000-000000000000}"/>
          </ac:spMkLst>
        </pc:spChg>
      </pc:sldChg>
      <pc:sldChg chg="modSp mod">
        <pc:chgData name="DHIVYALAKSHMI B  R" userId="5e8896278cdfd885" providerId="LiveId" clId="{CC9DF46C-ACA9-4B4E-A0CB-FBBE8F064AB4}" dt="2025-12-13T07:57:13.691" v="4" actId="27636"/>
        <pc:sldMkLst>
          <pc:docMk/>
          <pc:sldMk cId="0" sldId="266"/>
        </pc:sldMkLst>
        <pc:spChg chg="mod">
          <ac:chgData name="DHIVYALAKSHMI B  R" userId="5e8896278cdfd885" providerId="LiveId" clId="{CC9DF46C-ACA9-4B4E-A0CB-FBBE8F064AB4}" dt="2025-12-13T07:57:13.691" v="4" actId="27636"/>
          <ac:spMkLst>
            <pc:docMk/>
            <pc:sldMk cId="0" sldId="266"/>
            <ac:spMk id="5" creationId="{00000000-0000-0000-0000-000000000000}"/>
          </ac:spMkLst>
        </pc:spChg>
      </pc:sldChg>
      <pc:sldChg chg="modSp mod">
        <pc:chgData name="DHIVYALAKSHMI B  R" userId="5e8896278cdfd885" providerId="LiveId" clId="{CC9DF46C-ACA9-4B4E-A0CB-FBBE8F064AB4}" dt="2025-12-13T07:57:21.017" v="5" actId="12"/>
        <pc:sldMkLst>
          <pc:docMk/>
          <pc:sldMk cId="0" sldId="267"/>
        </pc:sldMkLst>
        <pc:spChg chg="mod">
          <ac:chgData name="DHIVYALAKSHMI B  R" userId="5e8896278cdfd885" providerId="LiveId" clId="{CC9DF46C-ACA9-4B4E-A0CB-FBBE8F064AB4}" dt="2025-12-13T07:57:21.017" v="5" actId="12"/>
          <ac:spMkLst>
            <pc:docMk/>
            <pc:sldMk cId="0" sldId="267"/>
            <ac:spMk id="5" creationId="{00000000-0000-0000-0000-000000000000}"/>
          </ac:spMkLst>
        </pc:spChg>
      </pc:sldChg>
      <pc:sldChg chg="ord">
        <pc:chgData name="DHIVYALAKSHMI B  R" userId="5e8896278cdfd885" providerId="LiveId" clId="{CC9DF46C-ACA9-4B4E-A0CB-FBBE8F064AB4}" dt="2025-12-13T07:57:23.290" v="7"/>
        <pc:sldMkLst>
          <pc:docMk/>
          <pc:sldMk cId="0" sldId="268"/>
        </pc:sldMkLst>
      </pc:sldChg>
      <pc:sldChg chg="modSp mod">
        <pc:chgData name="DHIVYALAKSHMI B  R" userId="5e8896278cdfd885" providerId="LiveId" clId="{CC9DF46C-ACA9-4B4E-A0CB-FBBE8F064AB4}" dt="2025-12-13T08:02:17.479" v="8" actId="20577"/>
        <pc:sldMkLst>
          <pc:docMk/>
          <pc:sldMk cId="0" sldId="269"/>
        </pc:sldMkLst>
        <pc:spChg chg="mod">
          <ac:chgData name="DHIVYALAKSHMI B  R" userId="5e8896278cdfd885" providerId="LiveId" clId="{CC9DF46C-ACA9-4B4E-A0CB-FBBE8F064AB4}" dt="2025-12-13T08:02:17.479" v="8" actId="20577"/>
          <ac:spMkLst>
            <pc:docMk/>
            <pc:sldMk cId="0" sldId="269"/>
            <ac:spMk id="5" creationId="{00000000-0000-0000-0000-000000000000}"/>
          </ac:spMkLst>
        </pc:spChg>
      </pc:sldChg>
      <pc:sldChg chg="modSp mod">
        <pc:chgData name="DHIVYALAKSHMI B  R" userId="5e8896278cdfd885" providerId="LiveId" clId="{CC9DF46C-ACA9-4B4E-A0CB-FBBE8F064AB4}" dt="2025-12-13T08:29:07.712" v="12" actId="20577"/>
        <pc:sldMkLst>
          <pc:docMk/>
          <pc:sldMk cId="0" sldId="275"/>
        </pc:sldMkLst>
        <pc:spChg chg="mod">
          <ac:chgData name="DHIVYALAKSHMI B  R" userId="5e8896278cdfd885" providerId="LiveId" clId="{CC9DF46C-ACA9-4B4E-A0CB-FBBE8F064AB4}" dt="2025-12-13T08:29:07.712" v="12" actId="20577"/>
          <ac:spMkLst>
            <pc:docMk/>
            <pc:sldMk cId="0" sldId="275"/>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061F6FC2-9645-479A-A309-27B8F5654211}" type="datetimeFigureOut">
              <a:rPr lang="en-US"/>
              <a:t>12/13/2025</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lstStyle>
            <a:lvl1pPr algn="r" eaLnBrk="1" hangingPunct="1">
              <a:defRPr sz="1300" smtClean="0">
                <a:latin typeface="Calibri" panose="020F0502020204030204" pitchFamily="34" charset="0"/>
              </a:defRPr>
            </a:lvl1pPr>
          </a:lstStyle>
          <a:p>
            <a:pPr>
              <a:defRPr/>
            </a:pPr>
            <a:fld id="{F2D8CC3F-ADB2-4AF7-880C-111F7E6C7FE6}" type="slidenum">
              <a:rPr lang="en-US" altLang="en-US"/>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t>8</a:t>
            </a:fld>
            <a:endParaRPr lang="en-US" altLang="en-US"/>
          </a:p>
        </p:txBody>
      </p:sp>
    </p:spTree>
    <p:extLst>
      <p:ext uri="{BB962C8B-B14F-4D97-AF65-F5344CB8AC3E}">
        <p14:creationId xmlns:p14="http://schemas.microsoft.com/office/powerpoint/2010/main" val="2121912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t>19</a:t>
            </a:fld>
            <a:endParaRPr lang="en-US" altLang="en-US"/>
          </a:p>
        </p:txBody>
      </p:sp>
    </p:spTree>
    <p:extLst>
      <p:ext uri="{BB962C8B-B14F-4D97-AF65-F5344CB8AC3E}">
        <p14:creationId xmlns:p14="http://schemas.microsoft.com/office/powerpoint/2010/main" val="168217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4766310"/>
            <a:ext cx="2286000" cy="274320"/>
          </a:xfrm>
        </p:spPr>
        <p:txBody>
          <a:bodyPr/>
          <a:lstStyle>
            <a:lvl1pPr>
              <a:defRPr sz="1400"/>
            </a:lvl1pPr>
          </a:lstStyle>
          <a:p>
            <a:pPr>
              <a:defRPr/>
            </a:pPr>
            <a:fld id="{EDD62464-91D3-48B5-AF18-AC74D9BF9633}" type="datetime3">
              <a:rPr lang="en-US" smtClean="0"/>
              <a:t>13 December 2025</a:t>
            </a:fld>
            <a:endParaRPr lang="en-US" dirty="0"/>
          </a:p>
        </p:txBody>
      </p:sp>
      <p:sp>
        <p:nvSpPr>
          <p:cNvPr id="17" name="Footer Placeholder 16"/>
          <p:cNvSpPr>
            <a:spLocks noGrp="1"/>
          </p:cNvSpPr>
          <p:nvPr>
            <p:ph type="ftr" sz="quarter" idx="11"/>
          </p:nvPr>
        </p:nvSpPr>
        <p:spPr>
          <a:xfrm>
            <a:off x="2898648" y="4766310"/>
            <a:ext cx="3474720" cy="274320"/>
          </a:xfrm>
        </p:spPr>
        <p:txBody>
          <a:bodyPr/>
          <a:lstStyle/>
          <a:p>
            <a:pPr>
              <a:defRPr/>
            </a:pPr>
            <a:r>
              <a:rPr lang="en-US"/>
              <a:t>EGB1201 – JAVA PROGRAMMING –PROJECT REVIEW 2 </a:t>
            </a:r>
            <a:endParaRPr lang="en-US" dirty="0"/>
          </a:p>
        </p:txBody>
      </p:sp>
      <p:sp>
        <p:nvSpPr>
          <p:cNvPr id="29" name="Slide Number Placeholder 28"/>
          <p:cNvSpPr>
            <a:spLocks noGrp="1"/>
          </p:cNvSpPr>
          <p:nvPr>
            <p:ph type="sldNum" sz="quarter" idx="12"/>
          </p:nvPr>
        </p:nvSpPr>
        <p:spPr>
          <a:xfrm>
            <a:off x="1216152" y="4766310"/>
            <a:ext cx="1219200" cy="274320"/>
          </a:xfrm>
        </p:spPr>
        <p:txBody>
          <a:bodyPr/>
          <a:lstStyle/>
          <a:p>
            <a:pPr>
              <a:defRPr/>
            </a:pPr>
            <a:fld id="{C0A8E10E-36D1-42AB-939C-34BEB33CD9E4}" type="slidenum">
              <a:rPr lang="en-US" altLang="en-US" smtClean="0"/>
              <a:t>‹#›</a:t>
            </a:fld>
            <a:endParaRPr lang="en-US" altLang="en-US"/>
          </a:p>
        </p:txBody>
      </p:sp>
      <p:sp>
        <p:nvSpPr>
          <p:cNvPr id="21"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fld id="{B6A9C998-94AD-4592-8E0C-5C5705351BB2}" type="datetime3">
              <a:rPr lang="en-US" smtClean="0"/>
              <a:t>13 December 2025</a:t>
            </a:fld>
            <a:endParaRPr lang="en-US" dirty="0"/>
          </a:p>
        </p:txBody>
      </p:sp>
      <p:sp>
        <p:nvSpPr>
          <p:cNvPr id="5" name="Footer Placeholder 4"/>
          <p:cNvSpPr>
            <a:spLocks noGrp="1"/>
          </p:cNvSpPr>
          <p:nvPr>
            <p:ph type="ftr" sz="quarter" idx="11"/>
          </p:nvPr>
        </p:nvSpPr>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t>‹#›</a:t>
            </a:fld>
            <a:endParaRPr lang="en-US" altLang="en-US"/>
          </a:p>
        </p:txBody>
      </p:sp>
      <p:sp>
        <p:nvSpPr>
          <p:cNvPr id="8" name="Content Placeholder 7"/>
          <p:cNvSpPr>
            <a:spLocks noGrp="1"/>
          </p:cNvSpPr>
          <p:nvPr>
            <p:ph sz="quarter" idx="1"/>
          </p:nvPr>
        </p:nvSpPr>
        <p:spPr>
          <a:xfrm>
            <a:off x="457200" y="914400"/>
            <a:ext cx="8229600"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4766310"/>
            <a:ext cx="2286000" cy="274320"/>
          </a:xfrm>
        </p:spPr>
        <p:txBody>
          <a:bodyPr/>
          <a:lstStyle/>
          <a:p>
            <a:pPr>
              <a:defRPr/>
            </a:pPr>
            <a:fld id="{E8339EB3-ACA5-47FD-8BD1-3F380C79EF14}" type="datetime3">
              <a:rPr lang="en-US" smtClean="0"/>
              <a:t>13 December 2025</a:t>
            </a:fld>
            <a:endParaRPr lang="en-US" dirty="0"/>
          </a:p>
        </p:txBody>
      </p:sp>
      <p:sp>
        <p:nvSpPr>
          <p:cNvPr id="5" name="Footer Placeholder 4"/>
          <p:cNvSpPr>
            <a:spLocks noGrp="1"/>
          </p:cNvSpPr>
          <p:nvPr>
            <p:ph type="ftr" sz="quarter" idx="11"/>
          </p:nvPr>
        </p:nvSpPr>
        <p:spPr>
          <a:xfrm>
            <a:off x="2898648" y="4766310"/>
            <a:ext cx="3474720" cy="274320"/>
          </a:xfrm>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a:xfrm>
            <a:off x="1069848" y="4766310"/>
            <a:ext cx="1520952" cy="274320"/>
          </a:xfrm>
        </p:spPr>
        <p:txBody>
          <a:bodyPr/>
          <a:lstStyle/>
          <a:p>
            <a:pPr>
              <a:defRPr/>
            </a:pPr>
            <a:fld id="{BEE0AD74-942B-45F6-8EEE-203197083F56}" type="slidenum">
              <a:rPr lang="en-US" altLang="en-US" smtClean="0"/>
              <a:t>‹#›</a:t>
            </a:fld>
            <a:endParaRPr lang="en-US" altLang="en-US"/>
          </a:p>
        </p:txBody>
      </p:sp>
      <p:sp>
        <p:nvSpPr>
          <p:cNvPr id="7"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fld id="{EB3BC824-8250-46A4-97E9-1A69B2F2FB25}" type="datetime3">
              <a:rPr lang="en-US" smtClean="0"/>
              <a:t>13 December 2025</a:t>
            </a:fld>
            <a:endParaRPr lang="en-US" dirty="0"/>
          </a:p>
        </p:txBody>
      </p:sp>
      <p:sp>
        <p:nvSpPr>
          <p:cNvPr id="6" name="Footer Placeholder 5"/>
          <p:cNvSpPr>
            <a:spLocks noGrp="1"/>
          </p:cNvSpPr>
          <p:nvPr>
            <p:ph type="ftr" sz="quarter" idx="11"/>
          </p:nvPr>
        </p:nvSpPr>
        <p:spPr/>
        <p:txBody>
          <a:bodyPr/>
          <a:lstStyle/>
          <a:p>
            <a:pPr>
              <a:defRPr/>
            </a:pPr>
            <a:r>
              <a:rPr lang="en-US"/>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t>‹#›</a:t>
            </a:fld>
            <a:endParaRPr lang="en-US" altLang="en-US"/>
          </a:p>
        </p:txBody>
      </p:sp>
      <p:sp>
        <p:nvSpPr>
          <p:cNvPr id="9" name="Content Placeholder 8"/>
          <p:cNvSpPr>
            <a:spLocks noGrp="1"/>
          </p:cNvSpPr>
          <p:nvPr>
            <p:ph sz="quarter" idx="1"/>
          </p:nvPr>
        </p:nvSpPr>
        <p:spPr>
          <a:xfrm>
            <a:off x="457200" y="914400"/>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912114"/>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971550"/>
            <a:ext cx="4041775" cy="51435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fld id="{1D371F4A-15B0-4739-9C96-5151473761C3}" type="datetime3">
              <a:rPr lang="en-US" smtClean="0"/>
              <a:t>13 December 2025</a:t>
            </a:fld>
            <a:endParaRPr lang="en-US" dirty="0"/>
          </a:p>
        </p:txBody>
      </p:sp>
      <p:sp>
        <p:nvSpPr>
          <p:cNvPr id="8" name="Footer Placeholder 7"/>
          <p:cNvSpPr>
            <a:spLocks noGrp="1"/>
          </p:cNvSpPr>
          <p:nvPr>
            <p:ph type="ftr" sz="quarter" idx="11"/>
          </p:nvPr>
        </p:nvSpPr>
        <p:spPr/>
        <p:txBody>
          <a:bodyPr/>
          <a:lstStyle/>
          <a:p>
            <a:pPr>
              <a:defRPr/>
            </a:pPr>
            <a:r>
              <a:rPr lang="en-US"/>
              <a:t>EGB1201 – JAVA PROGRAMMING –PROJECT REVIEW 2 </a:t>
            </a: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t>‹#›</a:t>
            </a:fld>
            <a:endParaRPr lang="en-US" altLang="en-US"/>
          </a:p>
        </p:txBody>
      </p:sp>
      <p:sp>
        <p:nvSpPr>
          <p:cNvPr id="11" name="Content Placeholder 10"/>
          <p:cNvSpPr>
            <a:spLocks noGrp="1"/>
          </p:cNvSpPr>
          <p:nvPr>
            <p:ph sz="quarter" idx="2"/>
          </p:nvPr>
        </p:nvSpPr>
        <p:spPr>
          <a:xfrm>
            <a:off x="457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fld id="{66B05E16-91CD-4D24-9E72-745C6AD013E1}" type="datetime3">
              <a:rPr lang="en-US" smtClean="0"/>
              <a:t>13 December 2025</a:t>
            </a:fld>
            <a:endParaRPr lang="en-US" dirty="0"/>
          </a:p>
        </p:txBody>
      </p:sp>
      <p:sp>
        <p:nvSpPr>
          <p:cNvPr id="4" name="Footer Placeholder 3"/>
          <p:cNvSpPr>
            <a:spLocks noGrp="1"/>
          </p:cNvSpPr>
          <p:nvPr>
            <p:ph type="ftr" sz="quarter" idx="11"/>
          </p:nvPr>
        </p:nvSpPr>
        <p:spPr/>
        <p:txBody>
          <a:bodyPr/>
          <a:lstStyle/>
          <a:p>
            <a:pPr>
              <a:defRPr/>
            </a:pPr>
            <a:r>
              <a:rPr lang="en-US"/>
              <a:t>EGB1201 – JAVA PROGRAMMING –PROJECT REVIEW 2 </a:t>
            </a: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t>‹#›</a:t>
            </a:fld>
            <a:endParaRPr lang="en-US" alt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45D060A-EFD9-4B22-932C-C42B599DBAF2}" type="datetime3">
              <a:rPr lang="en-US" smtClean="0"/>
              <a:t>13 December 2025</a:t>
            </a:fld>
            <a:endParaRPr lang="en-US" dirty="0"/>
          </a:p>
        </p:txBody>
      </p:sp>
      <p:sp>
        <p:nvSpPr>
          <p:cNvPr id="3" name="Footer Placeholder 2"/>
          <p:cNvSpPr>
            <a:spLocks noGrp="1"/>
          </p:cNvSpPr>
          <p:nvPr>
            <p:ph type="ftr" sz="quarter" idx="11"/>
          </p:nvPr>
        </p:nvSpPr>
        <p:spPr/>
        <p:txBody>
          <a:bodyPr/>
          <a:lstStyle/>
          <a:p>
            <a:pPr>
              <a:defRPr/>
            </a:pPr>
            <a:r>
              <a:rPr lang="en-US"/>
              <a:t>EGB1201 – JAVA PROGRAMMING –PROJECT REVIEW 2 </a:t>
            </a: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t>‹#›</a:t>
            </a:fld>
            <a:endParaRPr lang="en-US" altLang="en-US"/>
          </a:p>
        </p:txBody>
      </p:sp>
      <p:sp>
        <p:nvSpPr>
          <p:cNvPr id="5"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60C5E58A-366D-42D7-BE35-2A21803AE55F}" type="datetime3">
              <a:rPr lang="en-US" smtClean="0"/>
              <a:t>13 December 2025</a:t>
            </a:fld>
            <a:endParaRPr lang="en-US" dirty="0"/>
          </a:p>
        </p:txBody>
      </p:sp>
      <p:sp>
        <p:nvSpPr>
          <p:cNvPr id="6" name="Footer Placeholder 5"/>
          <p:cNvSpPr>
            <a:spLocks noGrp="1"/>
          </p:cNvSpPr>
          <p:nvPr>
            <p:ph type="ftr" sz="quarter" idx="11"/>
          </p:nvPr>
        </p:nvSpPr>
        <p:spPr/>
        <p:txBody>
          <a:bodyPr/>
          <a:lstStyle/>
          <a:p>
            <a:pPr>
              <a:defRPr/>
            </a:pPr>
            <a:r>
              <a:rPr lang="en-US"/>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4B3D1EAA-7E8D-49EA-BCBB-3C5BA424400D}" type="slidenum">
              <a:rPr lang="en-US" altLang="en-US" smtClean="0"/>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228600"/>
            <a:ext cx="5715000" cy="42862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99D38484-2184-434F-AC88-29FFE4A0AA9F}" type="datetime3">
              <a:rPr lang="en-US" smtClean="0"/>
              <a:t>13 December 2025</a:t>
            </a:fld>
            <a:endParaRPr lang="en-US" dirty="0"/>
          </a:p>
        </p:txBody>
      </p:sp>
      <p:sp>
        <p:nvSpPr>
          <p:cNvPr id="6" name="Footer Placeholder 5"/>
          <p:cNvSpPr>
            <a:spLocks noGrp="1"/>
          </p:cNvSpPr>
          <p:nvPr>
            <p:ph type="ftr" sz="quarter" idx="11"/>
          </p:nvPr>
        </p:nvSpPr>
        <p:spPr/>
        <p:txBody>
          <a:bodyPr/>
          <a:lstStyle/>
          <a:p>
            <a:pPr>
              <a:defRPr/>
            </a:pPr>
            <a:r>
              <a:rPr lang="en-US"/>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539A3B33-C0B7-41A2-B02D-6B795B806535}" type="datetime3">
              <a:rPr lang="en-US" smtClean="0"/>
              <a:t>13 December 2025</a:t>
            </a:fld>
            <a:endParaRPr lang="en-US" dirty="0"/>
          </a:p>
        </p:txBody>
      </p:sp>
      <p:sp>
        <p:nvSpPr>
          <p:cNvPr id="5" name="Footer Placeholder 4"/>
          <p:cNvSpPr>
            <a:spLocks noGrp="1"/>
          </p:cNvSpPr>
          <p:nvPr>
            <p:ph type="ftr" sz="quarter" idx="11"/>
          </p:nvPr>
        </p:nvSpPr>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11E726FA-2B63-4917-AB28-C983D9D4464F}" type="datetime3">
              <a:rPr lang="en-US" smtClean="0"/>
              <a:t>13 December 2025</a:t>
            </a:fld>
            <a:endParaRPr lang="en-US" dirty="0"/>
          </a:p>
        </p:txBody>
      </p:sp>
      <p:sp>
        <p:nvSpPr>
          <p:cNvPr id="5" name="Footer Placeholder 4"/>
          <p:cNvSpPr>
            <a:spLocks noGrp="1"/>
          </p:cNvSpPr>
          <p:nvPr>
            <p:ph type="ftr" sz="quarter" idx="11"/>
          </p:nvPr>
        </p:nvSpPr>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B1E085C4-C07B-4C80-B337-90438D59D3CD}" type="slidenum">
              <a:rPr lang="en-US" altLang="en-US" smtClean="0"/>
              <a:t>‹#›</a:t>
            </a:fld>
            <a:endParaRPr lang="en-US" altLang="en-US"/>
          </a:p>
        </p:txBody>
      </p:sp>
      <p:sp>
        <p:nvSpPr>
          <p:cNvPr id="7"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9000"/>
            <a:lum/>
          </a:blip>
          <a:srcRect/>
          <a:tile tx="0" ty="0" sx="100000" sy="100000" flip="none" algn="tl"/>
        </a:blip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14300"/>
            <a:ext cx="8229600" cy="74295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914400"/>
            <a:ext cx="8229600" cy="3682746"/>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pPr>
              <a:defRPr/>
            </a:pPr>
            <a:fld id="{F2B7BAF5-5BC0-49B1-9197-CD06326EE3BE}" type="datetime3">
              <a:rPr lang="en-US" smtClean="0"/>
              <a:t>13 December 2025</a:t>
            </a:fld>
            <a:endParaRPr lang="en-US" dirty="0"/>
          </a:p>
        </p:txBody>
      </p:sp>
      <p:sp>
        <p:nvSpPr>
          <p:cNvPr id="3"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pPr>
              <a:defRPr/>
            </a:pPr>
            <a:r>
              <a:rPr lang="en-US"/>
              <a:t>EGB1201 – JAVA PROGRAMMING –PROJECT REVIEW 2 </a:t>
            </a:r>
            <a:endParaRPr lang="en-US" dirty="0"/>
          </a:p>
        </p:txBody>
      </p:sp>
      <p:sp>
        <p:nvSpPr>
          <p:cNvPr id="23"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pPr>
              <a:defRPr/>
            </a:pPr>
            <a:fld id="{D78D2778-B29C-49DB-A26C-44F5760A332D}" type="slidenum">
              <a:rPr lang="en-US" altLang="en-US" smtClean="0"/>
              <a:t>‹#›</a:t>
            </a:fld>
            <a:endParaRPr lang="en-US" altLang="en-US"/>
          </a:p>
        </p:txBody>
      </p:sp>
      <p:sp>
        <p:nvSpPr>
          <p:cNvPr id="28"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exchangerate-api.com/" TargetMode="External"/><Relationship Id="rId2" Type="http://schemas.openxmlformats.org/officeDocument/2006/relationships/hyperlink" Target="https://docs.oracle.com/javase/" TargetMode="External"/><Relationship Id="rId1" Type="http://schemas.openxmlformats.org/officeDocument/2006/relationships/slideLayout" Target="../slideLayouts/slideLayout2.xml"/><Relationship Id="rId4" Type="http://schemas.openxmlformats.org/officeDocument/2006/relationships/hyperlink" Target="https://www.iso.org/iso-4217-currency-codes.html"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qqq</a:t>
            </a:r>
            <a:endParaRPr lang="en-US" dirty="0"/>
          </a:p>
        </p:txBody>
      </p:sp>
      <p:sp>
        <p:nvSpPr>
          <p:cNvPr id="5" name="Footer Placeholder 4"/>
          <p:cNvSpPr>
            <a:spLocks noGrp="1"/>
          </p:cNvSpPr>
          <p:nvPr>
            <p:ph type="ftr" sz="quarter" idx="11"/>
          </p:nvPr>
        </p:nvSpPr>
        <p:spPr>
          <a:xfrm>
            <a:off x="2467610" y="4825365"/>
            <a:ext cx="4445635" cy="274320"/>
          </a:xfrm>
        </p:spPr>
        <p:txBody>
          <a:bodyPr/>
          <a:lstStyle/>
          <a:p>
            <a:pPr>
              <a:defRPr/>
            </a:pPr>
            <a:r>
              <a:rPr lang="en-US" dirty="0"/>
              <a:t>EGB1201 – JAVA PROGRAMMING –FINAL REVIEW</a:t>
            </a:r>
          </a:p>
        </p:txBody>
      </p:sp>
      <p:sp>
        <p:nvSpPr>
          <p:cNvPr id="6" name="Slide Number Placeholder 5"/>
          <p:cNvSpPr>
            <a:spLocks noGrp="1"/>
          </p:cNvSpPr>
          <p:nvPr>
            <p:ph type="sldNum" sz="quarter" idx="12"/>
          </p:nvPr>
        </p:nvSpPr>
        <p:spPr/>
        <p:txBody>
          <a:bodyPr/>
          <a:lstStyle/>
          <a:p>
            <a:pPr>
              <a:defRPr/>
            </a:pPr>
            <a:fld id="{DB554FDC-F986-4516-81A3-5CBC9634E9C1}" type="slidenum">
              <a:rPr lang="en-US" altLang="en-US" smtClean="0"/>
              <a:t>1</a:t>
            </a:fld>
            <a:endParaRPr lang="en-US" altLang="en-US"/>
          </a:p>
        </p:txBody>
      </p:sp>
      <p:sp>
        <p:nvSpPr>
          <p:cNvPr id="7" name="Footer Placeholder 4"/>
          <p:cNvSpPr txBox="1"/>
          <p:nvPr/>
        </p:nvSpPr>
        <p:spPr>
          <a:xfrm>
            <a:off x="612775" y="1163955"/>
            <a:ext cx="7772400" cy="3542665"/>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endParaRPr lang="en-US" sz="2500" b="1" dirty="0">
              <a:latin typeface="Times New Roman" panose="02020603050405020304" pitchFamily="18" charset="0"/>
              <a:cs typeface="Times New Roman" panose="02020603050405020304" pitchFamily="18" charset="0"/>
            </a:endParaRPr>
          </a:p>
          <a:p>
            <a:pPr algn="ctr">
              <a:defRPr/>
            </a:pPr>
            <a:endParaRPr lang="en-US" sz="2500" b="1" dirty="0">
              <a:latin typeface="Times New Roman" panose="02020603050405020304" pitchFamily="18" charset="0"/>
              <a:cs typeface="Times New Roman" panose="02020603050405020304" pitchFamily="18" charset="0"/>
            </a:endParaRPr>
          </a:p>
          <a:p>
            <a:pPr algn="ctr">
              <a:defRPr/>
            </a:pPr>
            <a:endParaRPr lang="en-US" sz="2500" b="1" dirty="0">
              <a:latin typeface="Times New Roman" panose="02020603050405020304" pitchFamily="18" charset="0"/>
              <a:cs typeface="Times New Roman" panose="02020603050405020304" pitchFamily="18" charset="0"/>
            </a:endParaRPr>
          </a:p>
          <a:p>
            <a:pPr algn="ctr">
              <a:defRPr/>
            </a:pPr>
            <a:r>
              <a:rPr lang="en-US" sz="2500" b="1" dirty="0">
                <a:solidFill>
                  <a:schemeClr val="tx1"/>
                </a:solidFill>
                <a:latin typeface="Times New Roman" panose="02020603050405020304" pitchFamily="18" charset="0"/>
                <a:cs typeface="Times New Roman" panose="02020603050405020304" pitchFamily="18" charset="0"/>
              </a:rPr>
              <a:t>Department of Electrical and Electronics Engineering</a:t>
            </a:r>
          </a:p>
          <a:p>
            <a:pPr algn="ctr">
              <a:defRPr/>
            </a:pPr>
            <a:r>
              <a:rPr lang="en-US" sz="2500" b="1" dirty="0">
                <a:solidFill>
                  <a:schemeClr val="tx1"/>
                </a:solidFill>
                <a:latin typeface="Times New Roman" panose="02020603050405020304" pitchFamily="18" charset="0"/>
                <a:cs typeface="Times New Roman" panose="02020603050405020304" pitchFamily="18" charset="0"/>
              </a:rPr>
              <a:t>Academic Year: 2025 – 2026 (Odd Semester)</a:t>
            </a:r>
          </a:p>
          <a:p>
            <a:pPr algn="ctr">
              <a:defRPr/>
            </a:pPr>
            <a:endParaRPr lang="en-US" sz="2500" b="1" dirty="0">
              <a:solidFill>
                <a:schemeClr val="tx1"/>
              </a:solidFill>
              <a:latin typeface="Times New Roman" panose="02020603050405020304" pitchFamily="18" charset="0"/>
              <a:cs typeface="Times New Roman" panose="02020603050405020304" pitchFamily="18" charset="0"/>
            </a:endParaRPr>
          </a:p>
          <a:p>
            <a:pPr>
              <a:defRPr/>
            </a:pPr>
            <a:r>
              <a:rPr lang="en-US" sz="2500" b="1" dirty="0">
                <a:solidFill>
                  <a:schemeClr val="tx1"/>
                </a:solidFill>
                <a:latin typeface="Times New Roman" panose="02020603050405020304" pitchFamily="18" charset="0"/>
                <a:cs typeface="Times New Roman" panose="02020603050405020304" pitchFamily="18" charset="0"/>
              </a:rPr>
              <a:t>Register Number	:</a:t>
            </a:r>
            <a:r>
              <a:rPr lang="en-US" sz="2500" b="1" dirty="0">
                <a:solidFill>
                  <a:schemeClr val="tx1"/>
                </a:solidFill>
                <a:latin typeface="Times New Roman" panose="02020603050405020304" pitchFamily="18" charset="0"/>
                <a:cs typeface="Times New Roman" panose="02020603050405020304" pitchFamily="18" charset="0"/>
                <a:sym typeface="+mn-ea"/>
              </a:rPr>
              <a:t>927624BEE024</a:t>
            </a:r>
            <a:endParaRPr lang="en-US" sz="2500" b="1" dirty="0">
              <a:solidFill>
                <a:schemeClr val="tx1"/>
              </a:solidFill>
              <a:latin typeface="Times New Roman" panose="02020603050405020304" pitchFamily="18" charset="0"/>
              <a:cs typeface="Times New Roman" panose="02020603050405020304" pitchFamily="18" charset="0"/>
            </a:endParaRPr>
          </a:p>
          <a:p>
            <a:pPr>
              <a:defRPr/>
            </a:pPr>
            <a:r>
              <a:rPr lang="en-US" sz="2500" b="1" dirty="0">
                <a:solidFill>
                  <a:schemeClr val="tx1"/>
                </a:solidFill>
                <a:latin typeface="Times New Roman" panose="02020603050405020304" pitchFamily="18" charset="0"/>
                <a:cs typeface="Times New Roman" panose="02020603050405020304" pitchFamily="18" charset="0"/>
              </a:rPr>
              <a:t>Name					:DHIVYALAKSHMI B R</a:t>
            </a:r>
          </a:p>
          <a:p>
            <a:pPr>
              <a:defRPr/>
            </a:pPr>
            <a:r>
              <a:rPr lang="en-US" sz="2500" b="1" dirty="0">
                <a:solidFill>
                  <a:schemeClr val="tx1"/>
                </a:solidFill>
                <a:latin typeface="Times New Roman" panose="02020603050405020304" pitchFamily="18" charset="0"/>
                <a:cs typeface="Times New Roman" panose="02020603050405020304" pitchFamily="18" charset="0"/>
              </a:rPr>
              <a:t>Year					:II</a:t>
            </a:r>
          </a:p>
          <a:p>
            <a:pPr>
              <a:defRPr/>
            </a:pPr>
            <a:r>
              <a:rPr lang="en-US" sz="2500" b="1" dirty="0">
                <a:solidFill>
                  <a:schemeClr val="tx1"/>
                </a:solidFill>
                <a:latin typeface="Times New Roman" panose="02020603050405020304" pitchFamily="18" charset="0"/>
                <a:cs typeface="Times New Roman" panose="02020603050405020304" pitchFamily="18" charset="0"/>
              </a:rPr>
              <a:t>Semester				:III</a:t>
            </a:r>
          </a:p>
          <a:p>
            <a:pPr>
              <a:defRPr/>
            </a:pPr>
            <a:r>
              <a:rPr lang="en-US" sz="2500" b="1" dirty="0">
                <a:solidFill>
                  <a:schemeClr val="tx1"/>
                </a:solidFill>
                <a:latin typeface="Times New Roman" panose="02020603050405020304" pitchFamily="18" charset="0"/>
                <a:cs typeface="Times New Roman" panose="02020603050405020304" pitchFamily="18" charset="0"/>
              </a:rPr>
              <a:t>Section				:A</a:t>
            </a:r>
          </a:p>
          <a:p>
            <a:pPr>
              <a:defRPr/>
            </a:pPr>
            <a:r>
              <a:rPr lang="en-US" sz="2500" b="1" dirty="0">
                <a:solidFill>
                  <a:schemeClr val="tx1"/>
                </a:solidFill>
                <a:latin typeface="Times New Roman" panose="02020603050405020304" pitchFamily="18" charset="0"/>
                <a:cs typeface="Times New Roman" panose="02020603050405020304" pitchFamily="18" charset="0"/>
              </a:rPr>
              <a:t>Date					:13/12/2025</a:t>
            </a:r>
          </a:p>
        </p:txBody>
      </p:sp>
      <p:sp>
        <p:nvSpPr>
          <p:cNvPr id="8" name="Title 1"/>
          <p:cNvSpPr>
            <a:spLocks noGrp="1"/>
          </p:cNvSpPr>
          <p:nvPr/>
        </p:nvSpPr>
        <p:spPr>
          <a:xfrm>
            <a:off x="0" y="1"/>
            <a:ext cx="9144000" cy="1052513"/>
          </a:xfrm>
          <a:prstGeom prst="rect">
            <a:avLst/>
          </a:prstGeom>
          <a:solidFill>
            <a:schemeClr val="bg2">
              <a:lumMod val="75000"/>
            </a:schemeClr>
          </a:solidFill>
          <a:ln>
            <a:solidFill>
              <a:schemeClr val="tx1"/>
            </a:solidFill>
          </a:ln>
        </p:spPr>
        <p:txBody>
          <a:bodyPr vert="horz" anchor="b" anchorCtr="0">
            <a:normAutofit/>
          </a:bodyPr>
          <a:lstStyle>
            <a:lvl1pPr algn="l" rtl="0" eaLnBrk="1" latinLnBrk="0" hangingPunct="1">
              <a:spcBef>
                <a:spcPct val="0"/>
              </a:spcBef>
              <a:buNone/>
              <a:defRPr kumimoji="0" sz="3200" kern="1200">
                <a:solidFill>
                  <a:schemeClr val="tx2"/>
                </a:solidFill>
                <a:latin typeface="+mj-lt"/>
                <a:ea typeface="+mj-ea"/>
                <a:cs typeface="+mj-cs"/>
              </a:defRPr>
            </a:lvl1pPr>
          </a:lstStyle>
          <a:p>
            <a:pPr algn="ctr">
              <a:defRPr/>
            </a:pPr>
            <a:r>
              <a:rPr lang="en-IN" sz="2800" b="1" dirty="0">
                <a:solidFill>
                  <a:schemeClr val="tx1"/>
                </a:solidFill>
                <a:latin typeface="Times New Roman" panose="02020603050405020304" pitchFamily="18" charset="0"/>
                <a:cs typeface="Times New Roman" panose="02020603050405020304" pitchFamily="18" charset="0"/>
              </a:rPr>
              <a:t>EGB1201 – JAVA PROGRAMMING</a:t>
            </a:r>
            <a:br>
              <a:rPr lang="en-IN" sz="2800" b="1" dirty="0">
                <a:solidFill>
                  <a:schemeClr val="tx1"/>
                </a:solidFill>
                <a:latin typeface="Times New Roman" panose="02020603050405020304" pitchFamily="18" charset="0"/>
                <a:cs typeface="Times New Roman" panose="02020603050405020304" pitchFamily="18" charset="0"/>
              </a:rPr>
            </a:br>
            <a:r>
              <a:rPr lang="en-IN" sz="2800" b="1" dirty="0">
                <a:solidFill>
                  <a:schemeClr val="tx1"/>
                </a:solidFill>
                <a:latin typeface="Times New Roman" panose="02020603050405020304" pitchFamily="18" charset="0"/>
                <a:cs typeface="Times New Roman" panose="02020603050405020304" pitchFamily="18" charset="0"/>
              </a:rPr>
              <a:t>FINAL REVIEW</a:t>
            </a:r>
            <a:endParaRPr lang="en-US" altLang="en-IN" sz="2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Title of the Project</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2438400" y="4767263"/>
            <a:ext cx="4340352" cy="520729"/>
          </a:xfrm>
        </p:spPr>
        <p:txBody>
          <a:bodyPr/>
          <a:lstStyle/>
          <a:p>
            <a:pPr>
              <a:defRPr/>
            </a:pPr>
            <a:r>
              <a:rPr lang="en-US" dirty="0"/>
              <a:t>EGB1201 – JAVA PROGRAMMING –FINAL REVIEW</a:t>
            </a:r>
          </a:p>
          <a:p>
            <a:pPr>
              <a:defRPr/>
            </a:pPr>
            <a:endParaRPr lang="en-US" sz="1200" dirty="0">
              <a:latin typeface="Times New Roman" panose="02020603050405020304" pitchFamily="18" charset="0"/>
              <a:cs typeface="Times New Roman" panose="02020603050405020304" pitchFamily="18" charset="0"/>
            </a:endParaRPr>
          </a:p>
        </p:txBody>
      </p:sp>
      <p:sp>
        <p:nvSpPr>
          <p:cNvPr id="8196" name="Slide Number Placeholder 5"/>
          <p:cNvSpPr>
            <a:spLocks noGrp="1" noChangeArrowheads="1"/>
          </p:cNvSpPr>
          <p:nvPr>
            <p:ph type="sldNum" sz="quarter" idx="12"/>
          </p:nvPr>
        </p:nvSpPr>
        <p:spPr bwMode="auto">
          <a:noFill/>
          <a:ln>
            <a:miter lim="800000"/>
          </a:ln>
        </p:spPr>
        <p:txBody>
          <a:bodyPr/>
          <a:lstStyle/>
          <a:p>
            <a:fld id="{C8B3AA75-1EA1-4A20-9182-A423EE2FFA8F}" type="slidenum">
              <a:rPr lang="en-US" altLang="en-US"/>
              <a:t>2</a:t>
            </a:fld>
            <a:endParaRPr lang="en-US" altLang="en-US"/>
          </a:p>
        </p:txBody>
      </p:sp>
      <p:sp>
        <p:nvSpPr>
          <p:cNvPr id="7" name="Footer Placeholder 4"/>
          <p:cNvSpPr txBox="1"/>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endParaRPr lang="en-US" sz="2500" b="1" dirty="0"/>
          </a:p>
        </p:txBody>
      </p:sp>
      <p:sp>
        <p:nvSpPr>
          <p:cNvPr id="6" name="Content Placeholder 2"/>
          <p:cNvSpPr>
            <a:spLocks noGrp="1"/>
          </p:cNvSpPr>
          <p:nvPr>
            <p:ph sz="quarter" idx="1"/>
          </p:nvPr>
        </p:nvSpPr>
        <p:spPr>
          <a:xfrm>
            <a:off x="457200" y="914400"/>
            <a:ext cx="8229600" cy="3703320"/>
          </a:xfrm>
        </p:spPr>
        <p:txBody>
          <a:bodyPr/>
          <a:lstStyle/>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r>
              <a:rPr lang="en-US" dirty="0">
                <a:highlight>
                  <a:srgbClr val="C0C0C0"/>
                </a:highlight>
                <a:latin typeface="Times New Roman" panose="02020603050405020304" pitchFamily="18" charset="0"/>
                <a:cs typeface="Times New Roman" panose="02020603050405020304" pitchFamily="18" charset="0"/>
              </a:rPr>
              <a:t>CURRENCY CONVERTOR APPLICATION</a:t>
            </a:r>
            <a:endParaRPr lang="en-IN" dirty="0">
              <a:highlight>
                <a:srgbClr val="C0C0C0"/>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66" y="101917"/>
            <a:ext cx="8229600" cy="804866"/>
          </a:xfrm>
          <a:solidFill>
            <a:schemeClr val="bg2">
              <a:lumMod val="75000"/>
            </a:schemeClr>
          </a:solidFill>
        </p:spPr>
        <p:txBody>
          <a:bodyPr>
            <a:noAutofit/>
          </a:bodyPr>
          <a:lstStyle/>
          <a:p>
            <a:pPr algn="ctr"/>
            <a:r>
              <a:rPr lang="en-IN" sz="4000" b="1" spc="-10" dirty="0">
                <a:solidFill>
                  <a:schemeClr val="tx1"/>
                </a:solidFill>
                <a:latin typeface="Times New Roman" panose="02020603050405020304" pitchFamily="18" charset="0"/>
                <a:cs typeface="Times New Roman" panose="02020603050405020304" pitchFamily="18" charset="0"/>
              </a:rPr>
              <a:t>Abstract</a:t>
            </a:r>
            <a:r>
              <a:rPr lang="en-IN" sz="4000" dirty="0">
                <a:solidFill>
                  <a:schemeClr val="tx1"/>
                </a:solidFill>
                <a:latin typeface="Times New Roman" panose="02020603050405020304" pitchFamily="18" charset="0"/>
                <a:cs typeface="Times New Roman" panose="02020603050405020304" pitchFamily="18" charset="0"/>
              </a:rPr>
              <a:t> </a:t>
            </a:r>
          </a:p>
        </p:txBody>
      </p:sp>
      <p:sp>
        <p:nvSpPr>
          <p:cNvPr id="5" name="Footer Placeholder 4"/>
          <p:cNvSpPr>
            <a:spLocks noGrp="1"/>
          </p:cNvSpPr>
          <p:nvPr>
            <p:ph type="ftr" sz="quarter" idx="11"/>
          </p:nvPr>
        </p:nvSpPr>
        <p:spPr>
          <a:xfrm>
            <a:off x="2438400" y="4767263"/>
            <a:ext cx="4267200" cy="376237"/>
          </a:xfrm>
        </p:spPr>
        <p:txBody>
          <a:bodyPr/>
          <a:lstStyle/>
          <a:p>
            <a:pPr>
              <a:defRPr/>
            </a:pPr>
            <a:r>
              <a:rPr lang="en-US" dirty="0"/>
              <a:t>EGB1201 – JAVA PROGRAMMING –FINAL REVIEW</a:t>
            </a:r>
          </a:p>
          <a:p>
            <a:pPr>
              <a:defRPr/>
            </a:pP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500034" y="857238"/>
            <a:ext cx="8229600" cy="3929090"/>
          </a:xfrm>
        </p:spPr>
        <p:txBody>
          <a:bodyPr>
            <a:normAutofit/>
          </a:bodyPr>
          <a:lstStyle/>
          <a:p>
            <a:pPr>
              <a:buNone/>
            </a:pPr>
            <a:endParaRPr lang="en-GB" dirty="0"/>
          </a:p>
          <a:p>
            <a:pPr algn="just"/>
            <a:r>
              <a:rPr lang="en-US" sz="2400" dirty="0">
                <a:latin typeface="Times New Roman" panose="02020603050405020304" pitchFamily="18" charset="0"/>
                <a:cs typeface="Times New Roman" panose="02020603050405020304" pitchFamily="18" charset="0"/>
              </a:rPr>
              <a:t>This project implements a currency converter system that allows users to convert amounts between different currencies using real-time exchange rates. It features simple input, instant conversion, and optional offline support. Beyond basic conversion, it includes multi-currency conversion, historical rate visualization, making currency management more efficient and user-friendly.</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685800" y="171450"/>
            <a:ext cx="8001000" cy="495300"/>
          </a:xfrm>
          <a:solidFill>
            <a:schemeClr val="bg2">
              <a:lumMod val="75000"/>
            </a:schemeClr>
          </a:solidFill>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Abstract with CO/PO Mapping</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a:xfrm>
            <a:off x="2819400" y="4767263"/>
            <a:ext cx="4114800" cy="376237"/>
          </a:xfrm>
        </p:spPr>
        <p:txBody>
          <a:bodyPr/>
          <a:lstStyle/>
          <a:p>
            <a:pPr>
              <a:defRPr/>
            </a:pPr>
            <a:r>
              <a:rPr lang="en-US" dirty="0"/>
              <a:t>EGB1201 – JAVA PROGRAMMING –FINAL REVIEW</a:t>
            </a:r>
          </a:p>
          <a:p>
            <a:pPr>
              <a:defRPr/>
            </a:pPr>
            <a:endParaRPr lang="en-US" dirty="0">
              <a:latin typeface="Times New Roman" panose="02020603050405020304" pitchFamily="18" charset="0"/>
              <a:cs typeface="Times New Roman" panose="02020603050405020304" pitchFamily="18" charset="0"/>
            </a:endParaRPr>
          </a:p>
        </p:txBody>
      </p:sp>
      <p:sp>
        <p:nvSpPr>
          <p:cNvPr id="8196" name="Slide Number Placeholder 5"/>
          <p:cNvSpPr>
            <a:spLocks noGrp="1" noChangeArrowheads="1"/>
          </p:cNvSpPr>
          <p:nvPr>
            <p:ph type="sldNum" sz="quarter" idx="12"/>
          </p:nvPr>
        </p:nvSpPr>
        <p:spPr bwMode="auto">
          <a:noFill/>
          <a:ln>
            <a:miter lim="800000"/>
          </a:ln>
        </p:spPr>
        <p:txBody>
          <a:bodyPr/>
          <a:lstStyle/>
          <a:p>
            <a:fld id="{C8B3AA75-1EA1-4A20-9182-A423EE2FFA8F}" type="slidenum">
              <a:rPr lang="en-US" altLang="en-US"/>
              <a:t>4</a:t>
            </a:fld>
            <a:endParaRPr lang="en-US" altLang="en-US"/>
          </a:p>
        </p:txBody>
      </p:sp>
      <p:sp>
        <p:nvSpPr>
          <p:cNvPr id="7" name="Footer Placeholder 4"/>
          <p:cNvSpPr txBox="1"/>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endParaRPr lang="en-US" sz="2500" b="1" dirty="0"/>
          </a:p>
        </p:txBody>
      </p:sp>
      <p:graphicFrame>
        <p:nvGraphicFramePr>
          <p:cNvPr id="3" name="Table 2"/>
          <p:cNvGraphicFramePr>
            <a:graphicFrameLocks noGrp="1"/>
          </p:cNvGraphicFramePr>
          <p:nvPr>
            <p:extLst>
              <p:ext uri="{D42A27DB-BD31-4B8C-83A1-F6EECF244321}">
                <p14:modId xmlns:p14="http://schemas.microsoft.com/office/powerpoint/2010/main" val="718421152"/>
              </p:ext>
            </p:extLst>
          </p:nvPr>
        </p:nvGraphicFramePr>
        <p:xfrm>
          <a:off x="436297" y="945532"/>
          <a:ext cx="8612812" cy="3749040"/>
        </p:xfrm>
        <a:graphic>
          <a:graphicData uri="http://schemas.openxmlformats.org/drawingml/2006/table">
            <a:tbl>
              <a:tblPr firstRow="1" bandRow="1">
                <a:tableStyleId>{5C22544A-7EE6-4342-B048-85BDC9FD1C3A}</a:tableStyleId>
              </a:tblPr>
              <a:tblGrid>
                <a:gridCol w="6037018">
                  <a:extLst>
                    <a:ext uri="{9D8B030D-6E8A-4147-A177-3AD203B41FA5}">
                      <a16:colId xmlns:a16="http://schemas.microsoft.com/office/drawing/2014/main" val="20000"/>
                    </a:ext>
                  </a:extLst>
                </a:gridCol>
                <a:gridCol w="885429">
                  <a:extLst>
                    <a:ext uri="{9D8B030D-6E8A-4147-A177-3AD203B41FA5}">
                      <a16:colId xmlns:a16="http://schemas.microsoft.com/office/drawing/2014/main" val="20001"/>
                    </a:ext>
                  </a:extLst>
                </a:gridCol>
                <a:gridCol w="965923">
                  <a:extLst>
                    <a:ext uri="{9D8B030D-6E8A-4147-A177-3AD203B41FA5}">
                      <a16:colId xmlns:a16="http://schemas.microsoft.com/office/drawing/2014/main" val="20002"/>
                    </a:ext>
                  </a:extLst>
                </a:gridCol>
                <a:gridCol w="724442">
                  <a:extLst>
                    <a:ext uri="{9D8B030D-6E8A-4147-A177-3AD203B41FA5}">
                      <a16:colId xmlns:a16="http://schemas.microsoft.com/office/drawing/2014/main" val="20003"/>
                    </a:ext>
                  </a:extLst>
                </a:gridCol>
              </a:tblGrid>
              <a:tr h="355445">
                <a:tc>
                  <a:txBody>
                    <a:bodyPr/>
                    <a:lstStyle/>
                    <a:p>
                      <a:pPr algn="just"/>
                      <a:r>
                        <a:rPr lang="en-US" sz="1800" dirty="0">
                          <a:solidFill>
                            <a:schemeClr val="tx1"/>
                          </a:solidFill>
                          <a:latin typeface="Times New Roman" panose="02020603050405020304" pitchFamily="18" charset="0"/>
                          <a:cs typeface="Times New Roman" panose="02020603050405020304" pitchFamily="18" charset="0"/>
                        </a:rPr>
                        <a:t>Abstract</a:t>
                      </a:r>
                    </a:p>
                  </a:txBody>
                  <a:tcPr>
                    <a:solidFill>
                      <a:schemeClr val="bg2"/>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CO</a:t>
                      </a:r>
                    </a:p>
                  </a:txBody>
                  <a:tcPr>
                    <a:solidFill>
                      <a:schemeClr val="bg2"/>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POs</a:t>
                      </a:r>
                    </a:p>
                  </a:txBody>
                  <a:tcPr>
                    <a:solidFill>
                      <a:schemeClr val="bg2"/>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PSO</a:t>
                      </a:r>
                    </a:p>
                  </a:txBody>
                  <a:tcPr>
                    <a:solidFill>
                      <a:schemeClr val="bg2"/>
                    </a:solidFill>
                  </a:tcPr>
                </a:tc>
                <a:extLst>
                  <a:ext uri="{0D108BD9-81ED-4DB2-BD59-A6C34878D82A}">
                    <a16:rowId xmlns:a16="http://schemas.microsoft.com/office/drawing/2014/main" val="10000"/>
                  </a:ext>
                </a:extLst>
              </a:tr>
              <a:tr h="3287867">
                <a:tc>
                  <a:txBody>
                    <a:bodyPr/>
                    <a:lstStyle/>
                    <a:p>
                      <a:pPr algn="just"/>
                      <a:r>
                        <a:rPr lang="en-US" dirty="0">
                          <a:latin typeface="Times New Roman" panose="02020603050405020304" pitchFamily="18" charset="0"/>
                          <a:cs typeface="Times New Roman" panose="02020603050405020304" pitchFamily="18" charset="0"/>
                        </a:rPr>
                        <a:t>This project is a simple currency converter that allows users to convert money from one country’s currency to another easily. It helps people know the current value of different currencies instantly. The system takes an amount as input and quickly displays the converted value, making it convenient for travel, business, or daily use. Designed with a clear and user-friendly interface, this project makes currency conversion faster, easier, and more accurate for everyone.</a:t>
                      </a:r>
                      <a:endParaRPr lang="en-US" sz="18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CO1</a:t>
                      </a:r>
                    </a:p>
                    <a:p>
                      <a:r>
                        <a:rPr lang="en-US" sz="1800" dirty="0">
                          <a:solidFill>
                            <a:schemeClr val="tx1"/>
                          </a:solidFill>
                          <a:latin typeface="Times New Roman" panose="02020603050405020304" pitchFamily="18" charset="0"/>
                          <a:cs typeface="Times New Roman" panose="02020603050405020304" pitchFamily="18" charset="0"/>
                        </a:rPr>
                        <a:t>CO2</a:t>
                      </a:r>
                    </a:p>
                    <a:p>
                      <a:r>
                        <a:rPr lang="en-US" sz="1800" dirty="0">
                          <a:solidFill>
                            <a:schemeClr val="tx1"/>
                          </a:solidFill>
                          <a:latin typeface="Times New Roman" panose="02020603050405020304" pitchFamily="18" charset="0"/>
                          <a:cs typeface="Times New Roman" panose="02020603050405020304" pitchFamily="18" charset="0"/>
                        </a:rPr>
                        <a:t>CO3</a:t>
                      </a:r>
                    </a:p>
                    <a:p>
                      <a:r>
                        <a:rPr lang="en-US" sz="1800" dirty="0">
                          <a:solidFill>
                            <a:schemeClr val="tx1"/>
                          </a:solidFill>
                          <a:latin typeface="Times New Roman" panose="02020603050405020304" pitchFamily="18" charset="0"/>
                          <a:cs typeface="Times New Roman" panose="02020603050405020304" pitchFamily="18" charset="0"/>
                        </a:rPr>
                        <a:t>CO4</a:t>
                      </a:r>
                    </a:p>
                  </a:txBody>
                  <a:tcPr>
                    <a:solidFill>
                      <a:schemeClr val="bg2"/>
                    </a:solidFill>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PO1</a:t>
                      </a:r>
                    </a:p>
                    <a:p>
                      <a:r>
                        <a:rPr lang="en-US" sz="1800" dirty="0">
                          <a:solidFill>
                            <a:schemeClr val="tx1"/>
                          </a:solidFill>
                          <a:latin typeface="Times New Roman" panose="02020603050405020304" pitchFamily="18" charset="0"/>
                          <a:cs typeface="Times New Roman" panose="02020603050405020304" pitchFamily="18" charset="0"/>
                        </a:rPr>
                        <a:t>PO2</a:t>
                      </a:r>
                    </a:p>
                    <a:p>
                      <a:r>
                        <a:rPr lang="en-US" sz="1800" dirty="0">
                          <a:solidFill>
                            <a:schemeClr val="tx1"/>
                          </a:solidFill>
                          <a:latin typeface="Times New Roman" panose="02020603050405020304" pitchFamily="18" charset="0"/>
                          <a:cs typeface="Times New Roman" panose="02020603050405020304" pitchFamily="18" charset="0"/>
                        </a:rPr>
                        <a:t>PO3</a:t>
                      </a:r>
                    </a:p>
                    <a:p>
                      <a:r>
                        <a:rPr lang="en-US" sz="1800" dirty="0">
                          <a:solidFill>
                            <a:schemeClr val="tx1"/>
                          </a:solidFill>
                          <a:latin typeface="Times New Roman" panose="02020603050405020304" pitchFamily="18" charset="0"/>
                          <a:cs typeface="Times New Roman" panose="02020603050405020304" pitchFamily="18" charset="0"/>
                        </a:rPr>
                        <a:t>PO4</a:t>
                      </a:r>
                    </a:p>
                    <a:p>
                      <a:r>
                        <a:rPr lang="en-US" sz="1800" dirty="0">
                          <a:solidFill>
                            <a:schemeClr val="tx1"/>
                          </a:solidFill>
                          <a:latin typeface="Times New Roman" panose="02020603050405020304" pitchFamily="18" charset="0"/>
                          <a:cs typeface="Times New Roman" panose="02020603050405020304" pitchFamily="18" charset="0"/>
                        </a:rPr>
                        <a:t>PO5</a:t>
                      </a:r>
                    </a:p>
                    <a:p>
                      <a:r>
                        <a:rPr lang="en-US" sz="1800" dirty="0">
                          <a:solidFill>
                            <a:schemeClr val="tx1"/>
                          </a:solidFill>
                          <a:latin typeface="Times New Roman" panose="02020603050405020304" pitchFamily="18" charset="0"/>
                          <a:cs typeface="Times New Roman" panose="02020603050405020304" pitchFamily="18" charset="0"/>
                        </a:rPr>
                        <a:t>PO6</a:t>
                      </a:r>
                    </a:p>
                    <a:p>
                      <a:r>
                        <a:rPr lang="en-US" sz="1800" dirty="0">
                          <a:solidFill>
                            <a:schemeClr val="tx1"/>
                          </a:solidFill>
                          <a:latin typeface="Times New Roman" panose="02020603050405020304" pitchFamily="18" charset="0"/>
                          <a:cs typeface="Times New Roman" panose="02020603050405020304" pitchFamily="18" charset="0"/>
                        </a:rPr>
                        <a:t>PO7</a:t>
                      </a:r>
                    </a:p>
                    <a:p>
                      <a:r>
                        <a:rPr lang="en-US" sz="1800" dirty="0">
                          <a:solidFill>
                            <a:schemeClr val="tx1"/>
                          </a:solidFill>
                          <a:latin typeface="Times New Roman" panose="02020603050405020304" pitchFamily="18" charset="0"/>
                          <a:cs typeface="Times New Roman" panose="02020603050405020304" pitchFamily="18" charset="0"/>
                        </a:rPr>
                        <a:t>PO8</a:t>
                      </a:r>
                    </a:p>
                    <a:p>
                      <a:r>
                        <a:rPr lang="en-US" sz="1800" dirty="0">
                          <a:solidFill>
                            <a:schemeClr val="tx1"/>
                          </a:solidFill>
                          <a:latin typeface="Times New Roman" panose="02020603050405020304" pitchFamily="18" charset="0"/>
                          <a:cs typeface="Times New Roman" panose="02020603050405020304" pitchFamily="18" charset="0"/>
                        </a:rPr>
                        <a:t>PO9</a:t>
                      </a:r>
                    </a:p>
                    <a:p>
                      <a:r>
                        <a:rPr lang="en-US" sz="1800" dirty="0">
                          <a:solidFill>
                            <a:schemeClr val="tx1"/>
                          </a:solidFill>
                          <a:latin typeface="Times New Roman" panose="02020603050405020304" pitchFamily="18" charset="0"/>
                          <a:cs typeface="Times New Roman" panose="02020603050405020304" pitchFamily="18" charset="0"/>
                        </a:rPr>
                        <a:t>PO10</a:t>
                      </a:r>
                    </a:p>
                    <a:p>
                      <a:r>
                        <a:rPr lang="en-US" sz="1800" dirty="0">
                          <a:solidFill>
                            <a:schemeClr val="tx1"/>
                          </a:solidFill>
                          <a:latin typeface="Times New Roman" panose="02020603050405020304" pitchFamily="18" charset="0"/>
                          <a:cs typeface="Times New Roman" panose="02020603050405020304" pitchFamily="18" charset="0"/>
                        </a:rPr>
                        <a:t>PO11</a:t>
                      </a:r>
                    </a:p>
                    <a:p>
                      <a:r>
                        <a:rPr lang="en-US" sz="1800" dirty="0">
                          <a:solidFill>
                            <a:schemeClr val="tx1"/>
                          </a:solidFill>
                          <a:latin typeface="Times New Roman" panose="02020603050405020304" pitchFamily="18" charset="0"/>
                          <a:cs typeface="Times New Roman" panose="02020603050405020304" pitchFamily="18" charset="0"/>
                        </a:rPr>
                        <a:t>PO12</a:t>
                      </a:r>
                    </a:p>
                  </a:txBody>
                  <a:tcPr>
                    <a:solidFill>
                      <a:schemeClr val="bg2"/>
                    </a:solidFill>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PSO1</a:t>
                      </a:r>
                    </a:p>
                    <a:p>
                      <a:r>
                        <a:rPr lang="en-US" sz="1800" dirty="0">
                          <a:solidFill>
                            <a:schemeClr val="tx1"/>
                          </a:solidFill>
                          <a:latin typeface="Times New Roman" panose="02020603050405020304" pitchFamily="18" charset="0"/>
                          <a:cs typeface="Times New Roman" panose="02020603050405020304" pitchFamily="18" charset="0"/>
                        </a:rPr>
                        <a:t>PSO2</a:t>
                      </a:r>
                    </a:p>
                  </a:txBody>
                  <a:tcPr>
                    <a:solidFill>
                      <a:schemeClr val="bg2"/>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457200"/>
          </a:xfrm>
          <a:solidFill>
            <a:schemeClr val="bg2">
              <a:lumMod val="75000"/>
            </a:schemeClr>
          </a:solidFill>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Introduction</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743200" y="4767263"/>
            <a:ext cx="4114800" cy="376237"/>
          </a:xfrm>
        </p:spPr>
        <p:txBody>
          <a:bodyPr/>
          <a:lstStyle/>
          <a:p>
            <a:pPr>
              <a:defRPr/>
            </a:pPr>
            <a:r>
              <a:rPr lang="en-US" dirty="0"/>
              <a:t>EGB1201 – JAVA PROGRAMMING –FINAL REVIEW</a:t>
            </a:r>
          </a:p>
          <a:p>
            <a:pPr>
              <a:defRPr/>
            </a:pPr>
            <a:r>
              <a:rPr lang="en-US" sz="1200" dirty="0">
                <a:latin typeface="Times New Roman" panose="02020603050405020304" pitchFamily="18" charset="0"/>
                <a:cs typeface="Times New Roman" panose="02020603050405020304" pitchFamily="18" charset="0"/>
              </a:rPr>
              <a:t> </a:t>
            </a: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t>5</a:t>
            </a:fld>
            <a:endParaRPr lang="en-US" altLang="en-US"/>
          </a:p>
        </p:txBody>
      </p:sp>
      <p:sp>
        <p:nvSpPr>
          <p:cNvPr id="3" name="Content Placeholder 2"/>
          <p:cNvSpPr>
            <a:spLocks noGrp="1"/>
          </p:cNvSpPr>
          <p:nvPr>
            <p:ph sz="quarter" idx="1"/>
          </p:nvPr>
        </p:nvSpPr>
        <p:spPr>
          <a:xfrm>
            <a:off x="457200" y="1544128"/>
            <a:ext cx="8229600" cy="3073592"/>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Currency Converter Application is a Java-based software system developed to help users convert amounts between multiple currencies quickly and accurately. By connecting to real-time exchange rate APIs, it ensures up-to-date and precise conversions. The application features a simple, user-friendly interface that makes it easy for users to input values, select currencies, and view instant results. It also demonstrates the effective use of Java programming concepts such as API integration, event handling, and interface design. Overall, this project provides a practical and efficient solution for users needing quick and accurate currency conversions in their daily financial tasks.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Java Programming  - Concepts Used</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514600" y="4767263"/>
            <a:ext cx="4035552" cy="376237"/>
          </a:xfrm>
        </p:spPr>
        <p:txBody>
          <a:bodyPr/>
          <a:lstStyle/>
          <a:p>
            <a:pPr>
              <a:defRPr/>
            </a:pPr>
            <a:r>
              <a:rPr lang="en-US" dirty="0"/>
              <a:t>EGB1201 – JAVA PROGRAMMING –FINAL REVIEW</a:t>
            </a:r>
          </a:p>
          <a:p>
            <a:pPr>
              <a:defRPr/>
            </a:pPr>
            <a:endParaRPr lang="en-US" sz="1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t>6</a:t>
            </a:fld>
            <a:endParaRPr lang="en-US" altLang="en-US"/>
          </a:p>
        </p:txBody>
      </p:sp>
      <p:sp>
        <p:nvSpPr>
          <p:cNvPr id="3" name="Content Placeholder 2"/>
          <p:cNvSpPr>
            <a:spLocks noGrp="1"/>
          </p:cNvSpPr>
          <p:nvPr>
            <p:ph sz="quarter" idx="1"/>
          </p:nvPr>
        </p:nvSpPr>
        <p:spPr>
          <a:xfrm>
            <a:off x="457200" y="720090"/>
            <a:ext cx="8229600" cy="3703320"/>
          </a:xfrm>
        </p:spPr>
        <p:txBody>
          <a:bodyPr>
            <a:normAutofit/>
          </a:bodyPr>
          <a:lstStyle/>
          <a:p>
            <a:pPr algn="just">
              <a:buNone/>
            </a:pPr>
            <a:r>
              <a:rPr lang="en-US" sz="1900" dirty="0">
                <a:latin typeface="Times New Roman" panose="02020603050405020304" pitchFamily="18" charset="0"/>
                <a:cs typeface="Times New Roman" panose="02020603050405020304" pitchFamily="18" charset="0"/>
              </a:rPr>
              <a:t>  </a:t>
            </a:r>
          </a:p>
          <a:p>
            <a:pPr algn="just">
              <a:buNone/>
            </a:pPr>
            <a:r>
              <a:rPr lang="en-US" sz="1900" dirty="0">
                <a:latin typeface="Times New Roman" panose="02020603050405020304" pitchFamily="18" charset="0"/>
                <a:cs typeface="Times New Roman" panose="02020603050405020304" pitchFamily="18" charset="0"/>
              </a:rPr>
              <a:t>    The Currency Converter system was equipped with several foundational features. It supported basic currency conversion, wherein users could enter an amount, select the source and target currencies, and obtain the converted value instantly. To maintain accuracy, the system retrieved real-time exchange rates through external APIs. Additionally, it facilitated multi-currency conversion, enabling a single amount to be simultaneously converted into multiple currencies. The system also incorporated offline conversion capabilities by utilizing cached rates in the absence of internet connectivity. Furthermore, its user-friendly interface—comprising menus for currency selection, input fields, conversion controls, and clear result displays—ensured a seamless and convenient user experience.</a:t>
            </a:r>
            <a:endParaRPr lang="en-US" altLang="en-US" sz="1900" dirty="0">
              <a:latin typeface="Times New Roman" panose="02020603050405020304" pitchFamily="18" charset="0"/>
              <a:cs typeface="Times New Roman" panose="02020603050405020304" pitchFamily="18" charset="0"/>
            </a:endParaRPr>
          </a:p>
          <a:p>
            <a:pPr>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742950"/>
          </a:xfrm>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Proposed Architecture</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667000" y="4781550"/>
            <a:ext cx="4035552" cy="228599"/>
          </a:xfrm>
        </p:spPr>
        <p:txBody>
          <a:bodyPr/>
          <a:lstStyle/>
          <a:p>
            <a:pPr>
              <a:defRPr/>
            </a:pPr>
            <a:r>
              <a:rPr lang="en-US" dirty="0"/>
              <a:t>EGB1201 – JAVA PROGRAMMING –FINAL REVIEW</a:t>
            </a:r>
          </a:p>
          <a:p>
            <a:pPr>
              <a:defRPr/>
            </a:pPr>
            <a:endParaRPr lang="en-US" sz="1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t>7</a:t>
            </a:fld>
            <a:endParaRPr lang="en-US" altLang="en-US"/>
          </a:p>
        </p:txBody>
      </p:sp>
      <p:sp>
        <p:nvSpPr>
          <p:cNvPr id="3" name="Content Placeholder 2"/>
          <p:cNvSpPr>
            <a:spLocks noGrp="1"/>
          </p:cNvSpPr>
          <p:nvPr>
            <p:ph sz="quarter" idx="1"/>
          </p:nvPr>
        </p:nvSpPr>
        <p:spPr/>
        <p:txBody>
          <a:bodyPr>
            <a:normAutofit/>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upgraded Currency Converter System is built on a layered architecture that integrates the user interface, processing, and data management modules. It supports real-time conversions using live exchange rate APIs and provides historical rate visualization to help users analyze currency trends. The multi-currency conversion module that allows quick conversions for multiple currencies at once. This architecture ensures accuracy, speed, and a smooth user experience for efficient currency management.</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Proposed Architecture - Description</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216989" y="4767263"/>
            <a:ext cx="4333165" cy="376237"/>
          </a:xfrm>
        </p:spPr>
        <p:txBody>
          <a:bodyPr/>
          <a:lstStyle/>
          <a:p>
            <a:pPr>
              <a:defRPr/>
            </a:pPr>
            <a:r>
              <a:rPr lang="en-US" dirty="0"/>
              <a:t>EGB1201 – JAVA PROGRAMMING –FINAL REVIEW</a:t>
            </a: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t>8</a:t>
            </a:fld>
            <a:endParaRPr lang="en-US" altLang="en-US"/>
          </a:p>
        </p:txBody>
      </p:sp>
      <p:sp>
        <p:nvSpPr>
          <p:cNvPr id="3" name="Content Placeholder 2"/>
          <p:cNvSpPr>
            <a:spLocks noGrp="1"/>
          </p:cNvSpPr>
          <p:nvPr>
            <p:ph sz="quarter" idx="1"/>
          </p:nvPr>
        </p:nvSpPr>
        <p:spPr/>
        <p:txBody>
          <a:bodyPr>
            <a:normAutofit/>
          </a:body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1. Historical Rate Visualization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Shows past exchange rate trends through charts, helping users analyze fluctuations and make smarter financial decisions.</a:t>
            </a:r>
          </a:p>
          <a:p>
            <a:pPr marL="0" indent="0">
              <a:lnSpc>
                <a:spcPct val="150000"/>
              </a:lnSpc>
              <a:buNone/>
            </a:pPr>
            <a:r>
              <a:rPr lang="en-US" sz="2000" b="1" dirty="0">
                <a:latin typeface="Times New Roman" panose="02020603050405020304" pitchFamily="18" charset="0"/>
                <a:cs typeface="Times New Roman" panose="02020603050405020304" pitchFamily="18" charset="0"/>
              </a:rPr>
              <a:t>2. Predictive Analytics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Uses historical data to forecast future rates and suggests the best time for conversions, reducing guesswork.</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Proposed Architecture  - Description (Cont..)</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380892" y="4767263"/>
            <a:ext cx="4244196" cy="376237"/>
          </a:xfrm>
        </p:spPr>
        <p:txBody>
          <a:bodyPr/>
          <a:lstStyle/>
          <a:p>
            <a:pPr>
              <a:defRPr/>
            </a:pPr>
            <a:r>
              <a:rPr lang="en-US" dirty="0"/>
              <a:t>EGB1201 – JAVA PROGRAMMING –FINAL REVIEW</a:t>
            </a: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t>9</a:t>
            </a:fld>
            <a:endParaRPr lang="en-US" altLang="en-US"/>
          </a:p>
        </p:txBody>
      </p:sp>
      <p:sp>
        <p:nvSpPr>
          <p:cNvPr id="3" name="Content Placeholder 2"/>
          <p:cNvSpPr>
            <a:spLocks noGrp="1"/>
          </p:cNvSpPr>
          <p:nvPr>
            <p:ph sz="quarter" idx="1"/>
          </p:nvPr>
        </p:nvSpPr>
        <p:spPr/>
        <p:txBody>
          <a:body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3. Quick conversion using Real-time data</a:t>
            </a:r>
          </a:p>
          <a:p>
            <a:pPr marL="0" indent="0">
              <a:lnSpc>
                <a:spcPct val="150000"/>
              </a:lnSpc>
              <a:buNone/>
            </a:pPr>
            <a:r>
              <a:rPr lang="en-US" sz="2000" dirty="0">
                <a:latin typeface="Times New Roman" panose="02020603050405020304" pitchFamily="18" charset="0"/>
                <a:cs typeface="Times New Roman" panose="02020603050405020304" pitchFamily="18" charset="0"/>
              </a:rPr>
              <a:t>     Fetches Real time data from trustable API’s to give the most efficient data.</a:t>
            </a:r>
            <a:endParaRPr lang="en-US" sz="2000" b="1" dirty="0">
              <a:latin typeface="Times New Roman" panose="02020603050405020304" pitchFamily="18" charset="0"/>
              <a:cs typeface="Times New Roman" panose="02020603050405020304" pitchFamily="18" charset="0"/>
            </a:endParaRPr>
          </a:p>
          <a:p>
            <a:pPr marL="0" indent="0">
              <a:lnSpc>
                <a:spcPct val="150000"/>
              </a:lnSpc>
              <a:buNone/>
            </a:pPr>
            <a:r>
              <a:rPr lang="en-US" sz="2000" b="1" dirty="0">
                <a:latin typeface="Times New Roman" panose="02020603050405020304" pitchFamily="18" charset="0"/>
                <a:cs typeface="Times New Roman" panose="02020603050405020304" pitchFamily="18" charset="0"/>
              </a:rPr>
              <a:t>4. Multi-Currency Batch Conversion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Allows one amount to be converted into multiple currencies at once, saving time for travelers and businesses.</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350"/>
            <a:ext cx="8229600" cy="742950"/>
          </a:xfrm>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List of Modules</a:t>
            </a:r>
          </a:p>
        </p:txBody>
      </p:sp>
      <p:sp>
        <p:nvSpPr>
          <p:cNvPr id="5" name="Footer Placeholder 4"/>
          <p:cNvSpPr>
            <a:spLocks noGrp="1"/>
          </p:cNvSpPr>
          <p:nvPr>
            <p:ph type="ftr" sz="quarter" idx="11"/>
          </p:nvPr>
        </p:nvSpPr>
        <p:spPr>
          <a:xfrm>
            <a:off x="1923691" y="4767263"/>
            <a:ext cx="5239109" cy="376237"/>
          </a:xfrm>
        </p:spPr>
        <p:txBody>
          <a:bodyPr/>
          <a:lstStyle/>
          <a:p>
            <a:pPr algn="ctr">
              <a:defRPr/>
            </a:pPr>
            <a:r>
              <a:rPr lang="en-US" dirty="0"/>
              <a:t>EGB1201 – JAVA PROGRAMMING –FINAL REVIEW</a:t>
            </a:r>
          </a:p>
          <a:p>
            <a:pPr algn="ctr">
              <a:defRPr/>
            </a:pPr>
            <a:r>
              <a:rPr lang="en-US" sz="1200" dirty="0">
                <a:latin typeface="Times New Roman" panose="02020603050405020304" pitchFamily="18" charset="0"/>
                <a:cs typeface="Times New Roman" panose="02020603050405020304" pitchFamily="18" charset="0"/>
              </a:rPr>
              <a:t>3 </a:t>
            </a: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t>10</a:t>
            </a:fld>
            <a:endParaRPr lang="en-US" altLang="en-US"/>
          </a:p>
        </p:txBody>
      </p:sp>
      <p:sp>
        <p:nvSpPr>
          <p:cNvPr id="3" name="Content Placeholder 2"/>
          <p:cNvSpPr>
            <a:spLocks noGrp="1"/>
          </p:cNvSpPr>
          <p:nvPr>
            <p:ph sz="quarter" idx="1"/>
          </p:nvPr>
        </p:nvSpPr>
        <p:spPr/>
        <p:txBody>
          <a:bodyPr/>
          <a:lstStyle/>
          <a:p>
            <a:r>
              <a:rPr lang="en-IN" sz="2800" dirty="0">
                <a:latin typeface="Times New Roman" panose="02020603050405020304" pitchFamily="18" charset="0"/>
                <a:cs typeface="Times New Roman" panose="02020603050405020304" pitchFamily="18" charset="0"/>
              </a:rPr>
              <a:t>User Interface Module</a:t>
            </a:r>
          </a:p>
          <a:p>
            <a:r>
              <a:rPr lang="en-IN" sz="2800" dirty="0">
                <a:latin typeface="Times New Roman" panose="02020603050405020304" pitchFamily="18" charset="0"/>
                <a:cs typeface="Times New Roman" panose="02020603050405020304" pitchFamily="18" charset="0"/>
              </a:rPr>
              <a:t>Processing Module</a:t>
            </a:r>
          </a:p>
          <a:p>
            <a:r>
              <a:rPr lang="en-IN" sz="2800" dirty="0">
                <a:latin typeface="Times New Roman" panose="02020603050405020304" pitchFamily="18" charset="0"/>
                <a:cs typeface="Times New Roman" panose="02020603050405020304" pitchFamily="18" charset="0"/>
              </a:rPr>
              <a:t>API Integration Module</a:t>
            </a:r>
          </a:p>
          <a:p>
            <a:r>
              <a:rPr lang="en-IN" sz="2800" dirty="0">
                <a:latin typeface="Times New Roman" panose="02020603050405020304" pitchFamily="18" charset="0"/>
                <a:cs typeface="Times New Roman" panose="02020603050405020304" pitchFamily="18" charset="0"/>
              </a:rPr>
              <a:t>Data Management Module</a:t>
            </a:r>
          </a:p>
          <a:p>
            <a:r>
              <a:rPr lang="en-IN" sz="2800" dirty="0">
                <a:latin typeface="Times New Roman" panose="02020603050405020304" pitchFamily="18" charset="0"/>
                <a:cs typeface="Times New Roman" panose="02020603050405020304" pitchFamily="18" charset="0"/>
              </a:rPr>
              <a:t>Conversion Result Module</a:t>
            </a: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Module Description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1535503" y="4767262"/>
            <a:ext cx="5167222" cy="423863"/>
          </a:xfrm>
        </p:spPr>
        <p:txBody>
          <a:bodyPr/>
          <a:lstStyle/>
          <a:p>
            <a:pPr>
              <a:defRPr/>
            </a:pPr>
            <a:r>
              <a:rPr lang="en-US" dirty="0"/>
              <a:t>EGB1201 – JAVA PROGRAMMING –FINAL REVIEW</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t>11</a:t>
            </a:fld>
            <a:endParaRPr lang="en-US" altLang="en-US"/>
          </a:p>
        </p:txBody>
      </p:sp>
      <p:sp>
        <p:nvSpPr>
          <p:cNvPr id="5" name="Content Placeholder 4"/>
          <p:cNvSpPr>
            <a:spLocks noGrp="1"/>
          </p:cNvSpPr>
          <p:nvPr>
            <p:ph sz="quarter" idx="1"/>
          </p:nvPr>
        </p:nvSpPr>
        <p:spPr/>
        <p:txBody>
          <a:bodyPr>
            <a:normAutofit/>
          </a:bodyPr>
          <a:lstStyle/>
          <a:p>
            <a:pPr marL="0" indent="0">
              <a:buNone/>
            </a:pPr>
            <a:r>
              <a:rPr lang="en-US" sz="2200" b="1" dirty="0">
                <a:latin typeface="Times New Roman" panose="02020603050405020304" pitchFamily="18" charset="0"/>
                <a:cs typeface="Times New Roman" panose="02020603050405020304" pitchFamily="18" charset="0"/>
              </a:rPr>
              <a:t>1. User Interface Module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This module allows users to enter the amount, choose source and target currencies, and view conversion results through a simple and interactive interface.</a:t>
            </a:r>
          </a:p>
          <a:p>
            <a:pPr marL="0" indent="0">
              <a:buNone/>
            </a:pPr>
            <a:r>
              <a:rPr lang="en-US" sz="2200" b="1" dirty="0">
                <a:latin typeface="Times New Roman" panose="02020603050405020304" pitchFamily="18" charset="0"/>
                <a:cs typeface="Times New Roman" panose="02020603050405020304" pitchFamily="18" charset="0"/>
              </a:rPr>
              <a:t>2. Processing Module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It performs the main conversion logic by processing user input and applying the correct exchange rate to generate accurate results.</a:t>
            </a:r>
          </a:p>
          <a:p>
            <a:pPr marL="0" indent="0">
              <a:buNone/>
            </a:pPr>
            <a:r>
              <a:rPr lang="en-US" sz="2200" b="1" dirty="0">
                <a:latin typeface="Times New Roman" panose="02020603050405020304" pitchFamily="18" charset="0"/>
                <a:cs typeface="Times New Roman" panose="02020603050405020304" pitchFamily="18" charset="0"/>
              </a:rPr>
              <a:t>3. API Integration Module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This module connects the system to real-time exchange rate APIs, ensuring that the conversion uses the most updated and accurate rates.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Module Description (Cont..)</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2027208" y="4767262"/>
            <a:ext cx="4744528" cy="555236"/>
          </a:xfrm>
        </p:spPr>
        <p:txBody>
          <a:bodyPr/>
          <a:lstStyle/>
          <a:p>
            <a:pPr>
              <a:defRPr/>
            </a:pPr>
            <a:r>
              <a:rPr lang="en-US" dirty="0"/>
              <a:t>EGB1201 – JAVA PROGRAMMING –FINAL REVIEW</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t>12</a:t>
            </a:fld>
            <a:endParaRPr lang="en-US" altLang="en-US"/>
          </a:p>
        </p:txBody>
      </p:sp>
      <p:sp>
        <p:nvSpPr>
          <p:cNvPr id="5" name="Content Placeholder 4"/>
          <p:cNvSpPr>
            <a:spLocks noGrp="1"/>
          </p:cNvSpPr>
          <p:nvPr>
            <p:ph sz="quarter" idx="1"/>
          </p:nvPr>
        </p:nvSpPr>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4. Data Management Module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stores cached exchange rate data for offline access and maintains historical rate information for analysis and trend visualization.</a:t>
            </a:r>
          </a:p>
          <a:p>
            <a:pPr marL="0" indent="0">
              <a:buNone/>
            </a:pPr>
            <a:r>
              <a:rPr lang="en-US" sz="2000" b="1" dirty="0">
                <a:latin typeface="Times New Roman" panose="02020603050405020304" pitchFamily="18" charset="0"/>
                <a:cs typeface="Times New Roman" panose="02020603050405020304" pitchFamily="18" charset="0"/>
              </a:rPr>
              <a:t>5. Conversion Result Module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This module displays the converted amount, along with rate details and other related information, in an organized and user-friendly format.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Results and Discussion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2898648" y="4767263"/>
            <a:ext cx="4114628" cy="274320"/>
          </a:xfrm>
        </p:spPr>
        <p:txBody>
          <a:bodyPr/>
          <a:lstStyle/>
          <a:p>
            <a:pPr>
              <a:defRPr/>
            </a:pPr>
            <a:r>
              <a:rPr lang="en-US" dirty="0"/>
              <a:t>EGB1201 – JAVA PROGRAMMING –FINAL REVIEW</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t>13</a:t>
            </a:fld>
            <a:endParaRPr lang="en-US" altLang="en-US"/>
          </a:p>
        </p:txBody>
      </p:sp>
      <p:sp>
        <p:nvSpPr>
          <p:cNvPr id="6" name="Content Placeholder 5">
            <a:extLst>
              <a:ext uri="{FF2B5EF4-FFF2-40B4-BE49-F238E27FC236}">
                <a16:creationId xmlns:a16="http://schemas.microsoft.com/office/drawing/2014/main" id="{671771FD-7CC8-B88C-C0F0-F80BA7403468}"/>
              </a:ext>
            </a:extLst>
          </p:cNvPr>
          <p:cNvSpPr>
            <a:spLocks noGrp="1"/>
          </p:cNvSpPr>
          <p:nvPr>
            <p:ph sz="quarter" idx="1"/>
          </p:nvPr>
        </p:nvSpPr>
        <p:spPr/>
        <p:txBody>
          <a:bodyPr/>
          <a:lstStyle/>
          <a:p>
            <a:pPr marL="0" indent="0">
              <a:buNone/>
            </a:pPr>
            <a:r>
              <a:rPr lang="en-US" dirty="0"/>
              <a:t>         </a:t>
            </a:r>
            <a:endParaRPr lang="en-IN" dirty="0"/>
          </a:p>
        </p:txBody>
      </p:sp>
      <p:pic>
        <p:nvPicPr>
          <p:cNvPr id="7" name="Picture 6" descr="A screenshot of a currency converter application&#10;&#10;AI-generated content may be incorrect.">
            <a:extLst>
              <a:ext uri="{FF2B5EF4-FFF2-40B4-BE49-F238E27FC236}">
                <a16:creationId xmlns:a16="http://schemas.microsoft.com/office/drawing/2014/main" id="{0DA4B493-1E89-645B-2020-B98D697CA320}"/>
              </a:ext>
            </a:extLst>
          </p:cNvPr>
          <p:cNvPicPr>
            <a:picLocks noChangeAspect="1"/>
          </p:cNvPicPr>
          <p:nvPr/>
        </p:nvPicPr>
        <p:blipFill>
          <a:blip r:embed="rId2"/>
          <a:stretch>
            <a:fillRect/>
          </a:stretch>
        </p:blipFill>
        <p:spPr>
          <a:xfrm>
            <a:off x="2130725" y="874502"/>
            <a:ext cx="5080958" cy="39100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Results and Discussion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1380227" y="4767262"/>
            <a:ext cx="5210355" cy="376237"/>
          </a:xfrm>
        </p:spPr>
        <p:txBody>
          <a:bodyPr/>
          <a:lstStyle/>
          <a:p>
            <a:pPr>
              <a:defRPr/>
            </a:pPr>
            <a:r>
              <a:rPr lang="en-US" dirty="0"/>
              <a:t>EGB1201 – JAVA PROGRAMMING –FINAL REVIEW</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t>14</a:t>
            </a:fld>
            <a:endParaRPr lang="en-US" altLang="en-US"/>
          </a:p>
        </p:txBody>
      </p:sp>
      <p:sp>
        <p:nvSpPr>
          <p:cNvPr id="6" name="Content Placeholder 5"/>
          <p:cNvSpPr>
            <a:spLocks noGrp="1"/>
          </p:cNvSpPr>
          <p:nvPr>
            <p:ph sz="quarter" idx="1"/>
          </p:nvPr>
        </p:nvSpPr>
        <p:spPr>
          <a:xfrm>
            <a:off x="457200" y="914400"/>
            <a:ext cx="8229600" cy="3419707"/>
          </a:xfrm>
        </p:spPr>
        <p:txBody>
          <a:bodyPr/>
          <a:lstStyle/>
          <a:p>
            <a:pPr marL="0" indent="0">
              <a:buNone/>
            </a:pPr>
            <a:r>
              <a:rPr lang="en-IN" dirty="0"/>
              <a:t>       </a:t>
            </a:r>
          </a:p>
        </p:txBody>
      </p:sp>
      <p:pic>
        <p:nvPicPr>
          <p:cNvPr id="5" name="Picture 4" descr="A screenshot of a screen&#10;&#10;AI-generated content may be incorrect.">
            <a:extLst>
              <a:ext uri="{FF2B5EF4-FFF2-40B4-BE49-F238E27FC236}">
                <a16:creationId xmlns:a16="http://schemas.microsoft.com/office/drawing/2014/main" id="{6D5A7752-A848-597D-82E5-4903841E4801}"/>
              </a:ext>
            </a:extLst>
          </p:cNvPr>
          <p:cNvPicPr>
            <a:picLocks noChangeAspect="1"/>
          </p:cNvPicPr>
          <p:nvPr/>
        </p:nvPicPr>
        <p:blipFill>
          <a:blip r:embed="rId2"/>
          <a:stretch>
            <a:fillRect/>
          </a:stretch>
        </p:blipFill>
        <p:spPr>
          <a:xfrm>
            <a:off x="2053087" y="857251"/>
            <a:ext cx="5210355" cy="39100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Results and Discussion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1820175" y="4767262"/>
            <a:ext cx="4753154" cy="537983"/>
          </a:xfrm>
        </p:spPr>
        <p:txBody>
          <a:bodyPr/>
          <a:lstStyle/>
          <a:p>
            <a:pPr>
              <a:defRPr/>
            </a:pPr>
            <a:r>
              <a:rPr lang="en-US" dirty="0"/>
              <a:t>EGB1201 – JAVA PROGRAMMING –FINAL REVIEW</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t>15</a:t>
            </a:fld>
            <a:endParaRPr lang="en-US" altLang="en-US"/>
          </a:p>
        </p:txBody>
      </p:sp>
      <p:pic>
        <p:nvPicPr>
          <p:cNvPr id="7" name="Content Placeholder 6" descr="A screenshot of a screen">
            <a:extLst>
              <a:ext uri="{FF2B5EF4-FFF2-40B4-BE49-F238E27FC236}">
                <a16:creationId xmlns:a16="http://schemas.microsoft.com/office/drawing/2014/main" id="{E06E84DC-059B-FEA0-FED1-EEE72777EDBE}"/>
              </a:ext>
            </a:extLst>
          </p:cNvPr>
          <p:cNvPicPr>
            <a:picLocks noGrp="1" noChangeAspect="1"/>
          </p:cNvPicPr>
          <p:nvPr>
            <p:ph sz="quarter" idx="1"/>
          </p:nvPr>
        </p:nvPicPr>
        <p:blipFill>
          <a:blip r:embed="rId2"/>
          <a:stretch>
            <a:fillRect/>
          </a:stretch>
        </p:blipFill>
        <p:spPr>
          <a:xfrm>
            <a:off x="2691443" y="914400"/>
            <a:ext cx="3881886" cy="37036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Results and Discussion (Cont..)</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2593848" y="4767262"/>
            <a:ext cx="4229646" cy="376237"/>
          </a:xfrm>
        </p:spPr>
        <p:txBody>
          <a:bodyPr/>
          <a:lstStyle/>
          <a:p>
            <a:pPr>
              <a:defRPr/>
            </a:pPr>
            <a:r>
              <a:rPr lang="en-US" dirty="0"/>
              <a:t>EGB1201 – JAVA PROGRAMMING –FINAL REVIEW</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t>16</a:t>
            </a:fld>
            <a:endParaRPr lang="en-US" altLang="en-US"/>
          </a:p>
        </p:txBody>
      </p:sp>
      <p:sp>
        <p:nvSpPr>
          <p:cNvPr id="5" name="Content Placeholder 4"/>
          <p:cNvSpPr>
            <a:spLocks noGrp="1"/>
          </p:cNvSpPr>
          <p:nvPr>
            <p:ph sz="quarter" idx="1"/>
          </p:nvPr>
        </p:nvSpPr>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Currency Converter Application is a simple and user-friendly tool designed to convert values from one currency to another quickly and accurately. Users can enter an amount, select the source currency, and choose the target currency to get the converted value instantly.</a:t>
            </a:r>
          </a:p>
          <a:p>
            <a:pPr marL="0" indent="0">
              <a:buNone/>
            </a:pPr>
            <a:r>
              <a:rPr lang="en-US" sz="1800" dirty="0">
                <a:latin typeface="Times New Roman" panose="02020603050405020304" pitchFamily="18" charset="0"/>
                <a:cs typeface="Times New Roman" panose="02020603050405020304" pitchFamily="18" charset="0"/>
              </a:rPr>
              <a:t>This application currently supports many major currencies:</a:t>
            </a:r>
          </a:p>
          <a:p>
            <a:pPr marL="0" indent="0" algn="just">
              <a:buNone/>
            </a:pPr>
            <a:r>
              <a:rPr lang="en-US" sz="1800" dirty="0">
                <a:latin typeface="Times New Roman" panose="02020603050405020304" pitchFamily="18" charset="0"/>
                <a:cs typeface="Times New Roman" panose="02020603050405020304" pitchFamily="18" charset="0"/>
              </a:rPr>
              <a:t>It provides an efficient and convenient way to check exchange rates and perform conversions for travel, business, or study purposes.</a:t>
            </a:r>
          </a:p>
          <a:p>
            <a:pPr marL="0" indent="0" algn="just">
              <a:buNone/>
            </a:pPr>
            <a:r>
              <a:rPr lang="en-US" sz="1800" dirty="0">
                <a:latin typeface="Times New Roman" panose="02020603050405020304" pitchFamily="18" charset="0"/>
                <a:cs typeface="Times New Roman" panose="02020603050405020304" pitchFamily="18" charset="0"/>
              </a:rPr>
              <a:t>Users can also view the application in dark mode.</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Conclusion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1328469" y="4767262"/>
            <a:ext cx="5221685" cy="376238"/>
          </a:xfrm>
        </p:spPr>
        <p:txBody>
          <a:bodyPr/>
          <a:lstStyle/>
          <a:p>
            <a:pPr>
              <a:defRPr/>
            </a:pPr>
            <a:r>
              <a:rPr lang="en-US" dirty="0"/>
              <a:t>   EGB1201 – JAVA PROGRAMMING –FINAL REVIEW</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t>17</a:t>
            </a:fld>
            <a:endParaRPr lang="en-US" altLang="en-US"/>
          </a:p>
        </p:txBody>
      </p:sp>
      <p:sp>
        <p:nvSpPr>
          <p:cNvPr id="5" name="Content Placeholder 4"/>
          <p:cNvSpPr>
            <a:spLocks noGrp="1"/>
          </p:cNvSpPr>
          <p:nvPr>
            <p:ph sz="quarter"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The Currency Converter Application provides an efficient, fast, and reliable way to convert between multiple international currencies.</a:t>
            </a:r>
          </a:p>
          <a:p>
            <a:pPr algn="just"/>
            <a:r>
              <a:rPr lang="en-US" sz="1800" dirty="0">
                <a:latin typeface="Times New Roman" panose="02020603050405020304" pitchFamily="18" charset="0"/>
                <a:cs typeface="Times New Roman" panose="02020603050405020304" pitchFamily="18" charset="0"/>
              </a:rPr>
              <a:t> With a simple interface and easy-to-use design, users can quickly obtain accurate conversions among 15+ different currencies along with their flags for easy understanding.</a:t>
            </a:r>
          </a:p>
          <a:p>
            <a:pPr algn="just"/>
            <a:r>
              <a:rPr lang="en-US" sz="1800" dirty="0">
                <a:latin typeface="Times New Roman" panose="02020603050405020304" pitchFamily="18" charset="0"/>
                <a:cs typeface="Times New Roman" panose="02020603050405020304" pitchFamily="18" charset="0"/>
              </a:rPr>
              <a:t>This project demonstrates practical implementation of real-world concepts like data handling, user input processing, and exchange rate calculation, making it useful for both learning and everyday financial needs.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C7657-3C89-277A-819E-43DA7EC56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F92C6-3258-DF46-77D3-E2DD2C0E2F00}"/>
              </a:ext>
            </a:extLst>
          </p:cNvPr>
          <p:cNvSpPr>
            <a:spLocks noGrp="1"/>
          </p:cNvSpPr>
          <p:nvPr>
            <p:ph type="title"/>
          </p:nvPr>
        </p:nvSpPr>
        <p:spPr>
          <a:solidFill>
            <a:schemeClr val="bg2">
              <a:lumMod val="75000"/>
            </a:schemeClr>
          </a:solidFill>
        </p:spPr>
        <p:txBody>
          <a:bodyPr>
            <a:normAutofit/>
          </a:bodyPr>
          <a:lstStyle/>
          <a:p>
            <a:pPr algn="ctr"/>
            <a:r>
              <a:rPr lang="en-US" b="1" dirty="0">
                <a:solidFill>
                  <a:schemeClr val="tx1"/>
                </a:solidFill>
                <a:latin typeface="Times New Roman" panose="02020603050405020304" pitchFamily="18" charset="0"/>
                <a:cs typeface="Times New Roman" panose="02020603050405020304" pitchFamily="18" charset="0"/>
              </a:rPr>
              <a:t>References</a:t>
            </a:r>
          </a:p>
        </p:txBody>
      </p:sp>
      <p:sp>
        <p:nvSpPr>
          <p:cNvPr id="3" name="Footer Placeholder 2">
            <a:extLst>
              <a:ext uri="{FF2B5EF4-FFF2-40B4-BE49-F238E27FC236}">
                <a16:creationId xmlns:a16="http://schemas.microsoft.com/office/drawing/2014/main" id="{8D356A27-BD47-5306-BB35-B788E3751430}"/>
              </a:ext>
            </a:extLst>
          </p:cNvPr>
          <p:cNvSpPr>
            <a:spLocks noGrp="1"/>
          </p:cNvSpPr>
          <p:nvPr>
            <p:ph type="ftr" sz="quarter" idx="11"/>
          </p:nvPr>
        </p:nvSpPr>
        <p:spPr>
          <a:xfrm>
            <a:off x="2051824" y="4767263"/>
            <a:ext cx="4646342" cy="274320"/>
          </a:xfrm>
        </p:spPr>
        <p:txBody>
          <a:bodyPr/>
          <a:lstStyle/>
          <a:p>
            <a:pPr>
              <a:defRPr/>
            </a:pPr>
            <a:r>
              <a:rPr lang="en-US" dirty="0"/>
              <a:t>EGB1201 – JAVA PROGRAMMING –FINAL REVIEW</a:t>
            </a:r>
          </a:p>
          <a:p>
            <a:pPr>
              <a:defRPr/>
            </a:pPr>
            <a:endParaRPr lang="en-US" dirty="0"/>
          </a:p>
        </p:txBody>
      </p:sp>
      <p:sp>
        <p:nvSpPr>
          <p:cNvPr id="4" name="Slide Number Placeholder 3">
            <a:extLst>
              <a:ext uri="{FF2B5EF4-FFF2-40B4-BE49-F238E27FC236}">
                <a16:creationId xmlns:a16="http://schemas.microsoft.com/office/drawing/2014/main" id="{82E81ADE-C9C1-3DDE-8CD7-83DFAD2378FB}"/>
              </a:ext>
            </a:extLst>
          </p:cNvPr>
          <p:cNvSpPr>
            <a:spLocks noGrp="1"/>
          </p:cNvSpPr>
          <p:nvPr>
            <p:ph type="sldNum" sz="quarter" idx="12"/>
          </p:nvPr>
        </p:nvSpPr>
        <p:spPr/>
        <p:txBody>
          <a:bodyPr/>
          <a:lstStyle/>
          <a:p>
            <a:pPr>
              <a:defRPr/>
            </a:pPr>
            <a:fld id="{0E14ABD8-B1EB-4C07-9937-C8C4E38BDF00}" type="slidenum">
              <a:rPr lang="en-US" altLang="en-US" smtClean="0"/>
              <a:t>18</a:t>
            </a:fld>
            <a:endParaRPr lang="en-US" altLang="en-US"/>
          </a:p>
        </p:txBody>
      </p:sp>
      <p:sp>
        <p:nvSpPr>
          <p:cNvPr id="6" name="Rectangle 1">
            <a:extLst>
              <a:ext uri="{FF2B5EF4-FFF2-40B4-BE49-F238E27FC236}">
                <a16:creationId xmlns:a16="http://schemas.microsoft.com/office/drawing/2014/main" id="{8E2BFB47-3452-46A3-FF8E-AFB462F65B4A}"/>
              </a:ext>
            </a:extLst>
          </p:cNvPr>
          <p:cNvSpPr>
            <a:spLocks noGrp="1" noChangeArrowheads="1"/>
          </p:cNvSpPr>
          <p:nvPr>
            <p:ph sz="quarter" idx="1"/>
          </p:nvPr>
        </p:nvSpPr>
        <p:spPr bwMode="auto">
          <a:xfrm>
            <a:off x="457200" y="1057900"/>
            <a:ext cx="788454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Oracle Documentation.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 Platform Standard Edition Documentation.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Oracle Corporation.</a:t>
            </a:r>
            <a:b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https://docs.oracle.com/javase/</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ExchangeRate</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and Historical Currency Exchange Rates API Documentation.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https://www.exchangerate-api.com/</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Pressman, R. S., &amp; Maxim, B. R. (2020).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 Engineering: A Practitioner’s Approach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(9th ed.). McGraw-Hill Education.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Schildt, H. (2018).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 The Complete Reference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(11th ed.). McGraw-Hill.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ISO 4217 Standard.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Currency Codes — International Organization for Standardization.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https://www.iso.org/iso-4217-currency-codes.html</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1937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solidFill>
            <a:schemeClr val="bg2">
              <a:lumMod val="75000"/>
            </a:schemeClr>
          </a:solidFill>
        </p:spPr>
        <p:txBody>
          <a:bodyPr>
            <a:normAutofit fontScale="90000"/>
          </a:bodyPr>
          <a:lstStyle/>
          <a:p>
            <a:pPr algn="ctr"/>
            <a:r>
              <a:rPr lang="en-IN" sz="4400" b="1" dirty="0">
                <a:solidFill>
                  <a:schemeClr val="tx1"/>
                </a:solidFill>
                <a:latin typeface="Times New Roman" panose="02020603050405020304" pitchFamily="18" charset="0"/>
                <a:cs typeface="Times New Roman" panose="02020603050405020304" pitchFamily="18" charset="0"/>
              </a:rPr>
              <a:t>Thank  You</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2971800" y="4767263"/>
            <a:ext cx="4111752" cy="376237"/>
          </a:xfrm>
        </p:spPr>
        <p:txBody>
          <a:bodyPr/>
          <a:lstStyle/>
          <a:p>
            <a:pPr>
              <a:defRPr/>
            </a:pPr>
            <a:r>
              <a:rPr lang="en-US" dirty="0"/>
              <a:t>EGB1201 – JAVA PROGRAMMING –FINAL REVIEW</a:t>
            </a:r>
          </a:p>
          <a:p>
            <a:pPr>
              <a:defRPr/>
            </a:pP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4CE540F1-D866-4735-9E65-A1952EADD02D}" type="slidenum">
              <a:rPr lang="en-US" altLang="en-US" smtClean="0"/>
              <a:t>19</a:t>
            </a:fld>
            <a:endParaRPr lang="en-US" altLang="en-US" dirty="0"/>
          </a:p>
        </p:txBody>
      </p:sp>
      <p:sp>
        <p:nvSpPr>
          <p:cNvPr id="6" name="Title 1"/>
          <p:cNvSpPr txBox="1"/>
          <p:nvPr/>
        </p:nvSpPr>
        <p:spPr>
          <a:xfrm>
            <a:off x="0" y="2099871"/>
            <a:ext cx="9144000" cy="1664258"/>
          </a:xfrm>
          <a:prstGeom prst="rect">
            <a:avLst/>
          </a:prstGeom>
          <a:solidFill>
            <a:schemeClr val="accent3">
              <a:lumMod val="40000"/>
              <a:lumOff val="60000"/>
            </a:schemeClr>
          </a:solidFill>
        </p:spPr>
        <p:txBody>
          <a:bodyPr>
            <a:normAutofit/>
          </a:bodyPr>
          <a:lst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endParaRPr lang="en-IN" sz="3600" dirty="0"/>
          </a:p>
          <a:p>
            <a:pPr algn="ctr">
              <a:defRPr/>
            </a:pPr>
            <a:r>
              <a:rPr lang="en-IN" sz="3600" b="1" dirty="0">
                <a:solidFill>
                  <a:schemeClr val="tx1"/>
                </a:solidFill>
                <a:latin typeface="Times New Roman" panose="02020603050405020304" pitchFamily="18" charset="0"/>
                <a:cs typeface="Times New Roman" panose="02020603050405020304" pitchFamily="18" charset="0"/>
              </a:rPr>
              <a:t>Any queries???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1290</Words>
  <Application>Microsoft Office PowerPoint</Application>
  <PresentationFormat>On-screen Show (16:9)</PresentationFormat>
  <Paragraphs>138</Paragraphs>
  <Slides>19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Bookman Old Style</vt:lpstr>
      <vt:lpstr>Calibri</vt:lpstr>
      <vt:lpstr>Gill Sans MT</vt:lpstr>
      <vt:lpstr>Times New Roman</vt:lpstr>
      <vt:lpstr>Wingdings</vt:lpstr>
      <vt:lpstr>Wingdings 3</vt:lpstr>
      <vt:lpstr>Origin</vt:lpstr>
      <vt:lpstr>*qqq</vt:lpstr>
      <vt:lpstr>Title of the Project</vt:lpstr>
      <vt:lpstr>Abstract </vt:lpstr>
      <vt:lpstr>Abstract with CO/PO Mapping</vt:lpstr>
      <vt:lpstr>Introduction</vt:lpstr>
      <vt:lpstr>Java Programming  - Concepts Used</vt:lpstr>
      <vt:lpstr>Proposed Architecture</vt:lpstr>
      <vt:lpstr>Proposed Architecture - Description</vt:lpstr>
      <vt:lpstr>Proposed Architecture  - Description (Cont..)</vt:lpstr>
      <vt:lpstr>List of Modules</vt:lpstr>
      <vt:lpstr>Module Description</vt:lpstr>
      <vt:lpstr>Module Description (Cont..)</vt:lpstr>
      <vt:lpstr>Results and Discussion</vt:lpstr>
      <vt:lpstr>Results and Discussion</vt:lpstr>
      <vt:lpstr>Results and Discussion</vt:lpstr>
      <vt:lpstr>Results and Discussion (Cont..)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DHIVYALAKSHMI</dc:creator>
  <cp:lastModifiedBy>DHIVYALAKSHMI B  R</cp:lastModifiedBy>
  <cp:revision>6</cp:revision>
  <dcterms:created xsi:type="dcterms:W3CDTF">2025-11-22T00:34:33Z</dcterms:created>
  <dcterms:modified xsi:type="dcterms:W3CDTF">2025-12-13T08:30:03Z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6345F1085A1C437D8C203023A9861CC4_13</vt:lpwstr>
  </property>
  <property fmtid="{D5CDD505-2E9C-101B-9397-08002B2CF9AE}" pid="3" name="KSOProductBuildVer">
    <vt:lpwstr>1033-12.2.0.23155</vt:lpwstr>
  </property>
</Properties>
</file>